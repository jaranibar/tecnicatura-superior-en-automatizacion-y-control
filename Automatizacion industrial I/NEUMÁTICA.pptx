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29"/>
  </p:notesMasterIdLst>
  <p:sldIdLst>
    <p:sldId id="258" r:id="rId2"/>
    <p:sldId id="256" r:id="rId3"/>
    <p:sldId id="257"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9" r:id="rId24"/>
    <p:sldId id="280" r:id="rId25"/>
    <p:sldId id="281" r:id="rId26"/>
    <p:sldId id="282" r:id="rId27"/>
    <p:sldId id="283" r:id="rId28"/>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autoAdjust="0"/>
    <p:restoredTop sz="94676" autoAdjust="0"/>
  </p:normalViewPr>
  <p:slideViewPr>
    <p:cSldViewPr>
      <p:cViewPr varScale="1">
        <p:scale>
          <a:sx n="87" d="100"/>
          <a:sy n="87" d="100"/>
        </p:scale>
        <p:origin x="-1464" y="-84"/>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AR"/>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95A1C77-6B4E-4E40-8487-EEA74A2D5BBB}" type="datetimeFigureOut">
              <a:rPr lang="es-AR" smtClean="0"/>
              <a:t>08/04/2013</a:t>
            </a:fld>
            <a:endParaRPr lang="es-AR"/>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AR"/>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AR"/>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E7BAFFB-BA6D-4565-B56F-104D82F6B2A5}" type="slidenum">
              <a:rPr lang="es-AR" smtClean="0"/>
              <a:t>‹Nº›</a:t>
            </a:fld>
            <a:endParaRPr lang="es-AR"/>
          </a:p>
        </p:txBody>
      </p:sp>
    </p:spTree>
    <p:extLst>
      <p:ext uri="{BB962C8B-B14F-4D97-AF65-F5344CB8AC3E}">
        <p14:creationId xmlns:p14="http://schemas.microsoft.com/office/powerpoint/2010/main" val="22711478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a:p>
        </p:txBody>
      </p:sp>
      <p:sp>
        <p:nvSpPr>
          <p:cNvPr id="4" name="3 Marcador de número de diapositiva"/>
          <p:cNvSpPr>
            <a:spLocks noGrp="1"/>
          </p:cNvSpPr>
          <p:nvPr>
            <p:ph type="sldNum" sz="quarter" idx="10"/>
          </p:nvPr>
        </p:nvSpPr>
        <p:spPr/>
        <p:txBody>
          <a:bodyPr/>
          <a:lstStyle/>
          <a:p>
            <a:fld id="{4E7BAFFB-BA6D-4565-B56F-104D82F6B2A5}" type="slidenum">
              <a:rPr lang="es-AR" smtClean="0"/>
              <a:t>1</a:t>
            </a:fld>
            <a:endParaRPr lang="es-AR"/>
          </a:p>
        </p:txBody>
      </p:sp>
    </p:spTree>
    <p:extLst>
      <p:ext uri="{BB962C8B-B14F-4D97-AF65-F5344CB8AC3E}">
        <p14:creationId xmlns:p14="http://schemas.microsoft.com/office/powerpoint/2010/main" val="12958480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s-ES"/>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ES"/>
          </a:p>
        </p:txBody>
      </p:sp>
      <p:sp>
        <p:nvSpPr>
          <p:cNvPr id="4" name="3 Marcador de fecha"/>
          <p:cNvSpPr>
            <a:spLocks noGrp="1"/>
          </p:cNvSpPr>
          <p:nvPr>
            <p:ph type="dt" sz="half" idx="10"/>
          </p:nvPr>
        </p:nvSpPr>
        <p:spPr/>
        <p:txBody>
          <a:bodyPr/>
          <a:lstStyle/>
          <a:p>
            <a:fld id="{36E63385-A8A1-4A07-903B-A9F6D9FE91AA}" type="datetime1">
              <a:rPr lang="es-ES" smtClean="0"/>
              <a:t>08/04/2013</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886CC0AD-C528-4F26-BB97-11706DAF15EC}" type="slidenum">
              <a:rPr lang="es-ES" smtClean="0"/>
              <a:t>‹Nº›</a:t>
            </a:fld>
            <a:endParaRPr lang="es-ES"/>
          </a:p>
        </p:txBody>
      </p:sp>
    </p:spTree>
    <p:extLst>
      <p:ext uri="{BB962C8B-B14F-4D97-AF65-F5344CB8AC3E}">
        <p14:creationId xmlns:p14="http://schemas.microsoft.com/office/powerpoint/2010/main" val="2689519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4232B95D-C5D1-4609-B487-A34899D549EB}" type="datetime1">
              <a:rPr lang="es-ES" smtClean="0"/>
              <a:t>08/04/2013</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886CC0AD-C528-4F26-BB97-11706DAF15EC}" type="slidenum">
              <a:rPr lang="es-ES" smtClean="0"/>
              <a:t>‹Nº›</a:t>
            </a:fld>
            <a:endParaRPr lang="es-ES"/>
          </a:p>
        </p:txBody>
      </p:sp>
    </p:spTree>
    <p:extLst>
      <p:ext uri="{BB962C8B-B14F-4D97-AF65-F5344CB8AC3E}">
        <p14:creationId xmlns:p14="http://schemas.microsoft.com/office/powerpoint/2010/main" val="9158119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1C3943E3-34DA-42D1-9F00-3012F9B2F8B2}" type="datetime1">
              <a:rPr lang="es-ES" smtClean="0"/>
              <a:t>08/04/2013</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886CC0AD-C528-4F26-BB97-11706DAF15EC}" type="slidenum">
              <a:rPr lang="es-ES" smtClean="0"/>
              <a:t>‹Nº›</a:t>
            </a:fld>
            <a:endParaRPr lang="es-ES"/>
          </a:p>
        </p:txBody>
      </p:sp>
    </p:spTree>
    <p:extLst>
      <p:ext uri="{BB962C8B-B14F-4D97-AF65-F5344CB8AC3E}">
        <p14:creationId xmlns:p14="http://schemas.microsoft.com/office/powerpoint/2010/main" val="8072164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fecha"/>
          <p:cNvSpPr>
            <a:spLocks noGrp="1"/>
          </p:cNvSpPr>
          <p:nvPr>
            <p:ph type="dt" sz="half" idx="10"/>
          </p:nvPr>
        </p:nvSpPr>
        <p:spPr/>
        <p:txBody>
          <a:bodyPr/>
          <a:lstStyle/>
          <a:p>
            <a:fld id="{30B9DDE7-5936-4E57-A6C6-87157DC5DC62}" type="datetime1">
              <a:rPr lang="es-ES" smtClean="0"/>
              <a:t>08/04/2013</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886CC0AD-C528-4F26-BB97-11706DAF15EC}" type="slidenum">
              <a:rPr lang="es-ES" smtClean="0"/>
              <a:t>‹Nº›</a:t>
            </a:fld>
            <a:endParaRPr lang="es-ES"/>
          </a:p>
        </p:txBody>
      </p:sp>
    </p:spTree>
    <p:extLst>
      <p:ext uri="{BB962C8B-B14F-4D97-AF65-F5344CB8AC3E}">
        <p14:creationId xmlns:p14="http://schemas.microsoft.com/office/powerpoint/2010/main" val="20509486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7" name="6 Marcador de fecha"/>
          <p:cNvSpPr>
            <a:spLocks noGrp="1"/>
          </p:cNvSpPr>
          <p:nvPr>
            <p:ph type="dt" sz="half" idx="10"/>
          </p:nvPr>
        </p:nvSpPr>
        <p:spPr/>
        <p:txBody>
          <a:bodyPr/>
          <a:lstStyle/>
          <a:p>
            <a:fld id="{A7ED3343-0BE1-4D70-B5FD-B63B79F79358}" type="datetime1">
              <a:rPr lang="es-ES" smtClean="0"/>
              <a:t>08/04/2013</a:t>
            </a:fld>
            <a:endParaRPr lang="es-ES"/>
          </a:p>
        </p:txBody>
      </p:sp>
      <p:sp>
        <p:nvSpPr>
          <p:cNvPr id="8" name="7 Marcador de pie de página"/>
          <p:cNvSpPr>
            <a:spLocks noGrp="1"/>
          </p:cNvSpPr>
          <p:nvPr>
            <p:ph type="ftr" sz="quarter" idx="11"/>
          </p:nvPr>
        </p:nvSpPr>
        <p:spPr/>
        <p:txBody>
          <a:bodyPr/>
          <a:lstStyle/>
          <a:p>
            <a:endParaRPr lang="es-ES"/>
          </a:p>
        </p:txBody>
      </p:sp>
      <p:sp>
        <p:nvSpPr>
          <p:cNvPr id="9" name="8 Marcador de número de diapositiva"/>
          <p:cNvSpPr>
            <a:spLocks noGrp="1"/>
          </p:cNvSpPr>
          <p:nvPr>
            <p:ph type="sldNum" sz="quarter" idx="12"/>
          </p:nvPr>
        </p:nvSpPr>
        <p:spPr/>
        <p:txBody>
          <a:bodyPr/>
          <a:lstStyle/>
          <a:p>
            <a:fld id="{886CC0AD-C528-4F26-BB97-11706DAF15EC}" type="slidenum">
              <a:rPr lang="es-ES" smtClean="0"/>
              <a:t>‹Nº›</a:t>
            </a:fld>
            <a:endParaRPr lang="es-ES"/>
          </a:p>
        </p:txBody>
      </p:sp>
    </p:spTree>
    <p:extLst>
      <p:ext uri="{BB962C8B-B14F-4D97-AF65-F5344CB8AC3E}">
        <p14:creationId xmlns:p14="http://schemas.microsoft.com/office/powerpoint/2010/main" val="25381343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fecha"/>
          <p:cNvSpPr>
            <a:spLocks noGrp="1"/>
          </p:cNvSpPr>
          <p:nvPr>
            <p:ph type="dt" sz="half" idx="10"/>
          </p:nvPr>
        </p:nvSpPr>
        <p:spPr/>
        <p:txBody>
          <a:bodyPr/>
          <a:lstStyle/>
          <a:p>
            <a:fld id="{6A78880F-5507-4F92-B295-60D25E77915C}" type="datetime1">
              <a:rPr lang="es-ES" smtClean="0"/>
              <a:t>08/04/2013</a:t>
            </a:fld>
            <a:endParaRPr lang="es-ES"/>
          </a:p>
        </p:txBody>
      </p:sp>
      <p:sp>
        <p:nvSpPr>
          <p:cNvPr id="4" name="3 Marcador de pie de página"/>
          <p:cNvSpPr>
            <a:spLocks noGrp="1"/>
          </p:cNvSpPr>
          <p:nvPr>
            <p:ph type="ftr" sz="quarter" idx="11"/>
          </p:nvPr>
        </p:nvSpPr>
        <p:spPr/>
        <p:txBody>
          <a:bodyPr/>
          <a:lstStyle/>
          <a:p>
            <a:endParaRPr lang="es-ES"/>
          </a:p>
        </p:txBody>
      </p:sp>
      <p:sp>
        <p:nvSpPr>
          <p:cNvPr id="5" name="4 Marcador de número de diapositiva"/>
          <p:cNvSpPr>
            <a:spLocks noGrp="1"/>
          </p:cNvSpPr>
          <p:nvPr>
            <p:ph type="sldNum" sz="quarter" idx="12"/>
          </p:nvPr>
        </p:nvSpPr>
        <p:spPr/>
        <p:txBody>
          <a:bodyPr/>
          <a:lstStyle/>
          <a:p>
            <a:fld id="{886CC0AD-C528-4F26-BB97-11706DAF15EC}" type="slidenum">
              <a:rPr lang="es-ES" smtClean="0"/>
              <a:t>‹Nº›</a:t>
            </a:fld>
            <a:endParaRPr lang="es-ES"/>
          </a:p>
        </p:txBody>
      </p:sp>
    </p:spTree>
    <p:extLst>
      <p:ext uri="{BB962C8B-B14F-4D97-AF65-F5344CB8AC3E}">
        <p14:creationId xmlns:p14="http://schemas.microsoft.com/office/powerpoint/2010/main" val="1222087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99297C73-CC12-4C18-9BC1-0FA4F579DF23}" type="datetime1">
              <a:rPr lang="es-ES" smtClean="0"/>
              <a:t>08/04/2013</a:t>
            </a:fld>
            <a:endParaRPr lang="es-ES"/>
          </a:p>
        </p:txBody>
      </p:sp>
      <p:sp>
        <p:nvSpPr>
          <p:cNvPr id="3" name="2 Marcador de pie de página"/>
          <p:cNvSpPr>
            <a:spLocks noGrp="1"/>
          </p:cNvSpPr>
          <p:nvPr>
            <p:ph type="ftr" sz="quarter" idx="11"/>
          </p:nvPr>
        </p:nvSpPr>
        <p:spPr/>
        <p:txBody>
          <a:bodyPr/>
          <a:lstStyle/>
          <a:p>
            <a:endParaRPr lang="es-ES"/>
          </a:p>
        </p:txBody>
      </p:sp>
      <p:sp>
        <p:nvSpPr>
          <p:cNvPr id="4" name="3 Marcador de número de diapositiva"/>
          <p:cNvSpPr>
            <a:spLocks noGrp="1"/>
          </p:cNvSpPr>
          <p:nvPr>
            <p:ph type="sldNum" sz="quarter" idx="12"/>
          </p:nvPr>
        </p:nvSpPr>
        <p:spPr/>
        <p:txBody>
          <a:bodyPr/>
          <a:lstStyle/>
          <a:p>
            <a:fld id="{886CC0AD-C528-4F26-BB97-11706DAF15EC}" type="slidenum">
              <a:rPr lang="es-ES" smtClean="0"/>
              <a:t>‹Nº›</a:t>
            </a:fld>
            <a:endParaRPr lang="es-ES"/>
          </a:p>
        </p:txBody>
      </p:sp>
    </p:spTree>
    <p:extLst>
      <p:ext uri="{BB962C8B-B14F-4D97-AF65-F5344CB8AC3E}">
        <p14:creationId xmlns:p14="http://schemas.microsoft.com/office/powerpoint/2010/main" val="3564714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ES"/>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0BBE011B-601A-47C0-8477-A7B682DC5F44}" type="datetime1">
              <a:rPr lang="es-ES" smtClean="0"/>
              <a:t>08/04/2013</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886CC0AD-C528-4F26-BB97-11706DAF15EC}" type="slidenum">
              <a:rPr lang="es-ES" smtClean="0"/>
              <a:t>‹Nº›</a:t>
            </a:fld>
            <a:endParaRPr lang="es-ES"/>
          </a:p>
        </p:txBody>
      </p:sp>
    </p:spTree>
    <p:extLst>
      <p:ext uri="{BB962C8B-B14F-4D97-AF65-F5344CB8AC3E}">
        <p14:creationId xmlns:p14="http://schemas.microsoft.com/office/powerpoint/2010/main" val="19172829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ES"/>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D7E14EC9-A9E3-401C-82A2-21C4C0FE8861}" type="datetime1">
              <a:rPr lang="es-ES" smtClean="0"/>
              <a:t>08/04/2013</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886CC0AD-C528-4F26-BB97-11706DAF15EC}" type="slidenum">
              <a:rPr lang="es-ES" smtClean="0"/>
              <a:t>‹Nº›</a:t>
            </a:fld>
            <a:endParaRPr lang="es-ES"/>
          </a:p>
        </p:txBody>
      </p:sp>
    </p:spTree>
    <p:extLst>
      <p:ext uri="{BB962C8B-B14F-4D97-AF65-F5344CB8AC3E}">
        <p14:creationId xmlns:p14="http://schemas.microsoft.com/office/powerpoint/2010/main" val="401795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A953F261-CCE5-407D-AFFE-797E6A704159}" type="datetime1">
              <a:rPr lang="es-ES" smtClean="0"/>
              <a:t>08/04/2013</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886CC0AD-C528-4F26-BB97-11706DAF15EC}" type="slidenum">
              <a:rPr lang="es-ES" smtClean="0"/>
              <a:t>‹Nº›</a:t>
            </a:fld>
            <a:endParaRPr lang="es-ES"/>
          </a:p>
        </p:txBody>
      </p:sp>
    </p:spTree>
    <p:extLst>
      <p:ext uri="{BB962C8B-B14F-4D97-AF65-F5344CB8AC3E}">
        <p14:creationId xmlns:p14="http://schemas.microsoft.com/office/powerpoint/2010/main" val="6372345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519F9D09-776B-4CC3-B517-524CF9710B50}" type="datetime1">
              <a:rPr lang="es-ES" smtClean="0"/>
              <a:t>08/04/2013</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886CC0AD-C528-4F26-BB97-11706DAF15EC}" type="slidenum">
              <a:rPr lang="es-ES" smtClean="0"/>
              <a:t>‹Nº›</a:t>
            </a:fld>
            <a:endParaRPr lang="es-ES"/>
          </a:p>
        </p:txBody>
      </p:sp>
    </p:spTree>
    <p:extLst>
      <p:ext uri="{BB962C8B-B14F-4D97-AF65-F5344CB8AC3E}">
        <p14:creationId xmlns:p14="http://schemas.microsoft.com/office/powerpoint/2010/main" val="33476231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733ABA-114C-45FF-8A97-2C1C377CFC16}" type="datetime1">
              <a:rPr lang="es-ES" smtClean="0"/>
              <a:t>08/04/2013</a:t>
            </a:fld>
            <a:endParaRPr lang="es-ES"/>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6CC0AD-C528-4F26-BB97-11706DAF15EC}" type="slidenum">
              <a:rPr lang="es-ES" smtClean="0"/>
              <a:t>‹Nº›</a:t>
            </a:fld>
            <a:endParaRPr lang="es-ES"/>
          </a:p>
        </p:txBody>
      </p:sp>
    </p:spTree>
    <p:extLst>
      <p:ext uri="{BB962C8B-B14F-4D97-AF65-F5344CB8AC3E}">
        <p14:creationId xmlns:p14="http://schemas.microsoft.com/office/powerpoint/2010/main" val="151653878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3568" y="0"/>
            <a:ext cx="7715200" cy="836712"/>
          </a:xfrm>
        </p:spPr>
        <p:txBody>
          <a:bodyPr/>
          <a:lstStyle/>
          <a:p>
            <a:r>
              <a:rPr lang="es-AR" dirty="0" smtClean="0"/>
              <a:t>Normas</a:t>
            </a:r>
            <a:endParaRPr lang="es-AR" dirty="0"/>
          </a:p>
        </p:txBody>
      </p:sp>
      <p:sp>
        <p:nvSpPr>
          <p:cNvPr id="3" name="2 Marcador de contenido"/>
          <p:cNvSpPr>
            <a:spLocks noGrp="1"/>
          </p:cNvSpPr>
          <p:nvPr>
            <p:ph idx="1"/>
          </p:nvPr>
        </p:nvSpPr>
        <p:spPr>
          <a:xfrm>
            <a:off x="107504" y="1124745"/>
            <a:ext cx="8229600" cy="5733256"/>
          </a:xfrm>
        </p:spPr>
        <p:txBody>
          <a:bodyPr>
            <a:normAutofit fontScale="77500" lnSpcReduction="20000"/>
          </a:bodyPr>
          <a:lstStyle/>
          <a:p>
            <a:pPr marL="0" indent="0">
              <a:buNone/>
            </a:pPr>
            <a:r>
              <a:rPr lang="es-AR" dirty="0" smtClean="0">
                <a:latin typeface="Arial" pitchFamily="34" charset="0"/>
                <a:cs typeface="Arial" pitchFamily="34" charset="0"/>
              </a:rPr>
              <a:t>¿ Que son las Normas?</a:t>
            </a:r>
          </a:p>
          <a:p>
            <a:pPr marL="0" indent="0">
              <a:buNone/>
            </a:pPr>
            <a:r>
              <a:rPr lang="es-ES" sz="2500" dirty="0"/>
              <a:t>Las </a:t>
            </a:r>
            <a:r>
              <a:rPr lang="es-ES" sz="2500" b="1" dirty="0"/>
              <a:t>normas</a:t>
            </a:r>
            <a:r>
              <a:rPr lang="es-ES" sz="2500" dirty="0"/>
              <a:t> son documentos técnico-legales con las siguientes características:</a:t>
            </a:r>
          </a:p>
          <a:p>
            <a:r>
              <a:rPr lang="es-ES" sz="2500" dirty="0"/>
              <a:t>Contienen especificaciones técnicas de aplicación voluntaria.</a:t>
            </a:r>
          </a:p>
          <a:p>
            <a:r>
              <a:rPr lang="es-ES" sz="2500" dirty="0"/>
              <a:t>Son elaborados por consenso de las partes interesadas: </a:t>
            </a:r>
          </a:p>
          <a:p>
            <a:pPr lvl="1"/>
            <a:r>
              <a:rPr lang="es-ES" sz="2500" dirty="0"/>
              <a:t>Fabricantes.</a:t>
            </a:r>
          </a:p>
          <a:p>
            <a:pPr lvl="1"/>
            <a:r>
              <a:rPr lang="es-ES" sz="2500" dirty="0"/>
              <a:t>Administraciones.</a:t>
            </a:r>
          </a:p>
          <a:p>
            <a:pPr lvl="1"/>
            <a:r>
              <a:rPr lang="es-ES" sz="2500" dirty="0"/>
              <a:t>Usuarios y consumidores.</a:t>
            </a:r>
          </a:p>
          <a:p>
            <a:pPr lvl="1"/>
            <a:r>
              <a:rPr lang="es-ES" sz="2500" dirty="0"/>
              <a:t>Centros de investigación y laboratorios.</a:t>
            </a:r>
          </a:p>
          <a:p>
            <a:pPr lvl="1"/>
            <a:r>
              <a:rPr lang="es-ES" sz="2500" dirty="0"/>
              <a:t>Asociaciones y Colegios Profesionales.</a:t>
            </a:r>
          </a:p>
          <a:p>
            <a:pPr lvl="1"/>
            <a:r>
              <a:rPr lang="es-ES" sz="2500" dirty="0"/>
              <a:t>Agentes Sociales, etc.</a:t>
            </a:r>
          </a:p>
          <a:p>
            <a:r>
              <a:rPr lang="es-ES" sz="2500" dirty="0"/>
              <a:t>Están basados en los resultados de la experiencia y el desarrollo tecnológico.</a:t>
            </a:r>
          </a:p>
          <a:p>
            <a:r>
              <a:rPr lang="es-ES" sz="2500" dirty="0"/>
              <a:t>Son aprobados por un organismo nacional, regional o internacional de normalización reconocido.</a:t>
            </a:r>
          </a:p>
          <a:p>
            <a:r>
              <a:rPr lang="es-ES" sz="2500" dirty="0"/>
              <a:t>Están disponibles al público.</a:t>
            </a:r>
          </a:p>
          <a:p>
            <a:r>
              <a:rPr lang="es-ES" sz="2500" dirty="0"/>
              <a:t>Las normas ofrecen un lenguaje de punto común de comunicación entre las empresas, la Administración pública, los usuarios y consumidores. Las normas establecen un equilibrio socioeconómico entre los distintos agentes que participan en las transacciones comerciales, base de cualquier economía de mercado, y son un patrón necesario de confianza entre cliente </a:t>
            </a:r>
          </a:p>
          <a:p>
            <a:pPr marL="0" indent="0">
              <a:buNone/>
            </a:pPr>
            <a:endParaRPr lang="es-AR" sz="2500" dirty="0"/>
          </a:p>
        </p:txBody>
      </p:sp>
    </p:spTree>
    <p:extLst>
      <p:ext uri="{BB962C8B-B14F-4D97-AF65-F5344CB8AC3E}">
        <p14:creationId xmlns:p14="http://schemas.microsoft.com/office/powerpoint/2010/main" val="17526110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971600" y="116632"/>
            <a:ext cx="7128792" cy="1008112"/>
          </a:xfrm>
        </p:spPr>
        <p:txBody>
          <a:bodyPr>
            <a:normAutofit fontScale="90000"/>
          </a:bodyPr>
          <a:lstStyle/>
          <a:p>
            <a:r>
              <a:rPr lang="es-ES" dirty="0" smtClean="0"/>
              <a:t>Normalización</a:t>
            </a:r>
            <a:br>
              <a:rPr lang="es-ES" dirty="0" smtClean="0"/>
            </a:br>
            <a:r>
              <a:rPr lang="es-ES" dirty="0" smtClean="0"/>
              <a:t>Definiciones</a:t>
            </a:r>
            <a:endParaRPr lang="es-ES" dirty="0"/>
          </a:p>
        </p:txBody>
      </p:sp>
      <p:sp>
        <p:nvSpPr>
          <p:cNvPr id="5" name="1 Título"/>
          <p:cNvSpPr txBox="1">
            <a:spLocks/>
          </p:cNvSpPr>
          <p:nvPr/>
        </p:nvSpPr>
        <p:spPr>
          <a:xfrm>
            <a:off x="395536" y="1556792"/>
            <a:ext cx="7992888" cy="4725144"/>
          </a:xfrm>
          <a:prstGeom prst="rect">
            <a:avLst/>
          </a:prstGeom>
        </p:spPr>
        <p:txBody>
          <a:bodyPr vert="horz" lIns="91440" tIns="45720" rIns="91440" bIns="45720" rtlCol="0" anchor="ctr">
            <a:normAutofit fontScale="4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lnSpc>
                <a:spcPct val="170000"/>
              </a:lnSpc>
            </a:pPr>
            <a:r>
              <a:rPr lang="es-ES" sz="6200" dirty="0" smtClean="0">
                <a:latin typeface="Arial" pitchFamily="34" charset="0"/>
                <a:cs typeface="Arial" pitchFamily="34" charset="0"/>
              </a:rPr>
              <a:t>La </a:t>
            </a:r>
            <a:r>
              <a:rPr lang="es-ES" sz="6200" b="1" dirty="0">
                <a:latin typeface="Arial" pitchFamily="34" charset="0"/>
                <a:cs typeface="Arial" pitchFamily="34" charset="0"/>
              </a:rPr>
              <a:t>normalización</a:t>
            </a:r>
            <a:r>
              <a:rPr lang="es-ES" sz="6200" dirty="0">
                <a:latin typeface="Arial" pitchFamily="34" charset="0"/>
                <a:cs typeface="Arial" pitchFamily="34" charset="0"/>
              </a:rPr>
              <a:t> o </a:t>
            </a:r>
            <a:r>
              <a:rPr lang="es-ES" sz="6200" b="1" dirty="0">
                <a:latin typeface="Arial" pitchFamily="34" charset="0"/>
                <a:cs typeface="Arial" pitchFamily="34" charset="0"/>
              </a:rPr>
              <a:t>estandarización</a:t>
            </a:r>
            <a:r>
              <a:rPr lang="es-ES" sz="6200" dirty="0">
                <a:latin typeface="Arial" pitchFamily="34" charset="0"/>
                <a:cs typeface="Arial" pitchFamily="34" charset="0"/>
              </a:rPr>
              <a:t> es la redacción y aprobación de normas que se establecen para garantizar el acoplamiento de elementos construidos independientemente, así como garantizar el repuesto en caso de ser necesario, garantizar la calidad de los elementos fabricados, la seguridad de funcionamiento y trabajar con responsabilidad </a:t>
            </a:r>
            <a:r>
              <a:rPr lang="es-ES" sz="6200" dirty="0" smtClean="0">
                <a:latin typeface="Arial" pitchFamily="34" charset="0"/>
                <a:cs typeface="Arial" pitchFamily="34" charset="0"/>
              </a:rPr>
              <a:t>social.</a:t>
            </a:r>
          </a:p>
          <a:p>
            <a:pPr algn="l"/>
            <a:endParaRPr lang="es-ES" dirty="0" smtClean="0">
              <a:latin typeface="Arial" pitchFamily="34" charset="0"/>
              <a:cs typeface="Arial" pitchFamily="34" charset="0"/>
            </a:endParaRPr>
          </a:p>
          <a:p>
            <a:endParaRPr lang="es-ES" dirty="0"/>
          </a:p>
        </p:txBody>
      </p:sp>
    </p:spTree>
    <p:extLst>
      <p:ext uri="{BB962C8B-B14F-4D97-AF65-F5344CB8AC3E}">
        <p14:creationId xmlns:p14="http://schemas.microsoft.com/office/powerpoint/2010/main" val="2984823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S" dirty="0"/>
              <a:t>Normalización</a:t>
            </a:r>
            <a:br>
              <a:rPr lang="es-ES" dirty="0"/>
            </a:br>
            <a:r>
              <a:rPr lang="es-ES" dirty="0"/>
              <a:t>Definiciones</a:t>
            </a:r>
          </a:p>
        </p:txBody>
      </p:sp>
      <p:sp>
        <p:nvSpPr>
          <p:cNvPr id="3" name="2 Marcador de contenido"/>
          <p:cNvSpPr>
            <a:spLocks noGrp="1"/>
          </p:cNvSpPr>
          <p:nvPr>
            <p:ph idx="1"/>
          </p:nvPr>
        </p:nvSpPr>
        <p:spPr>
          <a:xfrm>
            <a:off x="457200" y="1600200"/>
            <a:ext cx="8229600" cy="4781128"/>
          </a:xfrm>
        </p:spPr>
        <p:txBody>
          <a:bodyPr>
            <a:normAutofit fontScale="55000" lnSpcReduction="20000"/>
          </a:bodyPr>
          <a:lstStyle/>
          <a:p>
            <a:pPr marL="0" indent="0">
              <a:buNone/>
            </a:pPr>
            <a:endParaRPr lang="es-ES" dirty="0">
              <a:latin typeface="Arial" pitchFamily="34" charset="0"/>
              <a:cs typeface="Arial" pitchFamily="34" charset="0"/>
            </a:endParaRPr>
          </a:p>
          <a:p>
            <a:pPr marL="0" indent="0">
              <a:buNone/>
            </a:pPr>
            <a:r>
              <a:rPr lang="es-ES" dirty="0" smtClean="0">
                <a:latin typeface="Arial" pitchFamily="34" charset="0"/>
                <a:cs typeface="Arial" pitchFamily="34" charset="0"/>
              </a:rPr>
              <a:t>La </a:t>
            </a:r>
            <a:r>
              <a:rPr lang="es-ES" dirty="0">
                <a:latin typeface="Arial" pitchFamily="34" charset="0"/>
                <a:cs typeface="Arial" pitchFamily="34" charset="0"/>
              </a:rPr>
              <a:t>asociación estadounidense para pruebas de materiales (ASTM) define la normalización como el proceso de formular y aplicar reglas para una aproximación ordenada a una actividad específica para el beneficio y con la cooperación de todos los involucrados.</a:t>
            </a:r>
          </a:p>
          <a:p>
            <a:pPr marL="0" indent="0">
              <a:buNone/>
            </a:pPr>
            <a:endParaRPr lang="es-ES" dirty="0" smtClean="0"/>
          </a:p>
          <a:p>
            <a:pPr marL="0" indent="0">
              <a:buNone/>
            </a:pPr>
            <a:r>
              <a:rPr lang="es-ES" dirty="0" smtClean="0">
                <a:latin typeface="Arial" pitchFamily="34" charset="0"/>
                <a:cs typeface="Arial" pitchFamily="34" charset="0"/>
              </a:rPr>
              <a:t>Según </a:t>
            </a:r>
            <a:r>
              <a:rPr lang="es-ES" dirty="0">
                <a:latin typeface="Arial" pitchFamily="34" charset="0"/>
                <a:cs typeface="Arial" pitchFamily="34" charset="0"/>
              </a:rPr>
              <a:t>la ISO (International </a:t>
            </a:r>
            <a:r>
              <a:rPr lang="es-ES" dirty="0" err="1">
                <a:latin typeface="Arial" pitchFamily="34" charset="0"/>
                <a:cs typeface="Arial" pitchFamily="34" charset="0"/>
              </a:rPr>
              <a:t>Organization</a:t>
            </a:r>
            <a:r>
              <a:rPr lang="es-ES" dirty="0">
                <a:latin typeface="Arial" pitchFamily="34" charset="0"/>
                <a:cs typeface="Arial" pitchFamily="34" charset="0"/>
              </a:rPr>
              <a:t> </a:t>
            </a:r>
            <a:r>
              <a:rPr lang="es-ES" dirty="0" err="1">
                <a:latin typeface="Arial" pitchFamily="34" charset="0"/>
                <a:cs typeface="Arial" pitchFamily="34" charset="0"/>
              </a:rPr>
              <a:t>for</a:t>
            </a:r>
            <a:r>
              <a:rPr lang="es-ES" dirty="0">
                <a:latin typeface="Arial" pitchFamily="34" charset="0"/>
                <a:cs typeface="Arial" pitchFamily="34" charset="0"/>
              </a:rPr>
              <a:t> </a:t>
            </a:r>
            <a:r>
              <a:rPr lang="es-ES" dirty="0" err="1">
                <a:latin typeface="Arial" pitchFamily="34" charset="0"/>
                <a:cs typeface="Arial" pitchFamily="34" charset="0"/>
              </a:rPr>
              <a:t>Standarization</a:t>
            </a:r>
            <a:r>
              <a:rPr lang="es-ES" dirty="0">
                <a:latin typeface="Arial" pitchFamily="34" charset="0"/>
                <a:cs typeface="Arial" pitchFamily="34" charset="0"/>
              </a:rPr>
              <a:t>) la normalización es la actividad que tiene por objeto establecer, ante problemas reales o potenciales, disposiciones destinadas a usos comunes y repetidos, con el fin de obtener un nivel de ordenamiento óptimo en un contexto dado, que puede ser tecnológico, político o económico</a:t>
            </a:r>
            <a:r>
              <a:rPr lang="es-ES" dirty="0" smtClean="0">
                <a:latin typeface="Arial" pitchFamily="34" charset="0"/>
                <a:cs typeface="Arial" pitchFamily="34" charset="0"/>
              </a:rPr>
              <a:t>.</a:t>
            </a:r>
          </a:p>
          <a:p>
            <a:pPr marL="0" indent="0">
              <a:buNone/>
            </a:pPr>
            <a:endParaRPr lang="es-ES" dirty="0">
              <a:latin typeface="Arial" pitchFamily="34" charset="0"/>
              <a:cs typeface="Arial" pitchFamily="34" charset="0"/>
            </a:endParaRPr>
          </a:p>
          <a:p>
            <a:pPr marL="0" indent="0">
              <a:buNone/>
            </a:pPr>
            <a:r>
              <a:rPr lang="es-ES" dirty="0" smtClean="0">
                <a:latin typeface="Arial" pitchFamily="34" charset="0"/>
                <a:cs typeface="Arial" pitchFamily="34" charset="0"/>
              </a:rPr>
              <a:t>La </a:t>
            </a:r>
            <a:r>
              <a:rPr lang="es-ES" dirty="0">
                <a:latin typeface="Arial" pitchFamily="34" charset="0"/>
                <a:cs typeface="Arial" pitchFamily="34" charset="0"/>
              </a:rPr>
              <a:t>normalización persigue fundamentalmente tres objetivos:</a:t>
            </a:r>
          </a:p>
          <a:p>
            <a:r>
              <a:rPr lang="es-ES" dirty="0">
                <a:latin typeface="Arial" pitchFamily="34" charset="0"/>
                <a:cs typeface="Arial" pitchFamily="34" charset="0"/>
              </a:rPr>
              <a:t>Simplificación: se trata de reducir los modelos para quedarse únicamente con los más necesarios.</a:t>
            </a:r>
          </a:p>
          <a:p>
            <a:r>
              <a:rPr lang="es-ES" dirty="0">
                <a:latin typeface="Arial" pitchFamily="34" charset="0"/>
                <a:cs typeface="Arial" pitchFamily="34" charset="0"/>
              </a:rPr>
              <a:t>Unificación: para permitir el intercambio a nivel internacional.</a:t>
            </a:r>
          </a:p>
          <a:p>
            <a:r>
              <a:rPr lang="es-ES" dirty="0">
                <a:latin typeface="Arial" pitchFamily="34" charset="0"/>
                <a:cs typeface="Arial" pitchFamily="34" charset="0"/>
              </a:rPr>
              <a:t>Especificación: se persigue evitar errores de identificación creando un lenguaje claro y preciso.</a:t>
            </a:r>
          </a:p>
          <a:p>
            <a:endParaRPr lang="es-ES" dirty="0"/>
          </a:p>
          <a:p>
            <a:endParaRPr lang="es-ES" dirty="0"/>
          </a:p>
        </p:txBody>
      </p:sp>
    </p:spTree>
    <p:extLst>
      <p:ext uri="{BB962C8B-B14F-4D97-AF65-F5344CB8AC3E}">
        <p14:creationId xmlns:p14="http://schemas.microsoft.com/office/powerpoint/2010/main" val="11934301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AR" dirty="0" smtClean="0"/>
              <a:t>Normalizar la simbología </a:t>
            </a:r>
            <a:br>
              <a:rPr lang="es-AR" dirty="0" smtClean="0"/>
            </a:br>
            <a:r>
              <a:rPr lang="es-AR" dirty="0" smtClean="0"/>
              <a:t>Neumática e hidráulica </a:t>
            </a:r>
            <a:endParaRPr lang="es-AR" dirty="0"/>
          </a:p>
        </p:txBody>
      </p:sp>
      <p:sp>
        <p:nvSpPr>
          <p:cNvPr id="3" name="2 Marcador de contenido"/>
          <p:cNvSpPr>
            <a:spLocks noGrp="1"/>
          </p:cNvSpPr>
          <p:nvPr>
            <p:ph idx="1"/>
          </p:nvPr>
        </p:nvSpPr>
        <p:spPr>
          <a:xfrm>
            <a:off x="467544" y="1916832"/>
            <a:ext cx="8229600" cy="2548880"/>
          </a:xfrm>
        </p:spPr>
        <p:txBody>
          <a:bodyPr>
            <a:normAutofit lnSpcReduction="10000"/>
          </a:bodyPr>
          <a:lstStyle/>
          <a:p>
            <a:r>
              <a:rPr lang="es-AR" dirty="0">
                <a:latin typeface="Arial" pitchFamily="34" charset="0"/>
                <a:cs typeface="Arial" pitchFamily="34" charset="0"/>
              </a:rPr>
              <a:t>ISO 1219 1 y ISO 1219 </a:t>
            </a:r>
            <a:r>
              <a:rPr lang="es-AR" dirty="0" smtClean="0">
                <a:latin typeface="Arial" pitchFamily="34" charset="0"/>
                <a:cs typeface="Arial" pitchFamily="34" charset="0"/>
              </a:rPr>
              <a:t>2</a:t>
            </a:r>
          </a:p>
          <a:p>
            <a:pPr marL="0" indent="0">
              <a:buNone/>
            </a:pPr>
            <a:r>
              <a:rPr lang="es-AR" dirty="0" smtClean="0">
                <a:latin typeface="Arial" pitchFamily="34" charset="0"/>
                <a:cs typeface="Arial" pitchFamily="34" charset="0"/>
              </a:rPr>
              <a:t>A </a:t>
            </a:r>
            <a:r>
              <a:rPr lang="es-AR" dirty="0">
                <a:latin typeface="Arial" pitchFamily="34" charset="0"/>
                <a:cs typeface="Arial" pitchFamily="34" charset="0"/>
              </a:rPr>
              <a:t>nivel internacional </a:t>
            </a:r>
            <a:r>
              <a:rPr lang="es-AR" dirty="0" smtClean="0">
                <a:latin typeface="Arial" pitchFamily="34" charset="0"/>
                <a:cs typeface="Arial" pitchFamily="34" charset="0"/>
              </a:rPr>
              <a:t>esta norma se </a:t>
            </a:r>
            <a:r>
              <a:rPr lang="es-AR" dirty="0">
                <a:latin typeface="Arial" pitchFamily="34" charset="0"/>
                <a:cs typeface="Arial" pitchFamily="34" charset="0"/>
              </a:rPr>
              <a:t>encarga </a:t>
            </a:r>
            <a:r>
              <a:rPr lang="es-AR" dirty="0" smtClean="0">
                <a:latin typeface="Arial" pitchFamily="34" charset="0"/>
                <a:cs typeface="Arial" pitchFamily="34" charset="0"/>
              </a:rPr>
              <a:t>de representar </a:t>
            </a:r>
            <a:r>
              <a:rPr lang="es-AR" dirty="0">
                <a:latin typeface="Arial" pitchFamily="34" charset="0"/>
                <a:cs typeface="Arial" pitchFamily="34" charset="0"/>
              </a:rPr>
              <a:t>los símbolos que se deben utilizar </a:t>
            </a:r>
            <a:r>
              <a:rPr lang="es-AR" dirty="0" smtClean="0">
                <a:latin typeface="Arial" pitchFamily="34" charset="0"/>
                <a:cs typeface="Arial" pitchFamily="34" charset="0"/>
              </a:rPr>
              <a:t>en los esquemas neumáticos </a:t>
            </a:r>
            <a:r>
              <a:rPr lang="es-AR" dirty="0">
                <a:latin typeface="Arial" pitchFamily="34" charset="0"/>
                <a:cs typeface="Arial" pitchFamily="34" charset="0"/>
              </a:rPr>
              <a:t>e hidráulicos.</a:t>
            </a:r>
            <a:endParaRPr lang="es-AR" dirty="0" smtClean="0">
              <a:latin typeface="Arial" pitchFamily="34" charset="0"/>
              <a:cs typeface="Arial" pitchFamily="34" charset="0"/>
            </a:endParaRPr>
          </a:p>
        </p:txBody>
      </p:sp>
    </p:spTree>
    <p:extLst>
      <p:ext uri="{BB962C8B-B14F-4D97-AF65-F5344CB8AC3E}">
        <p14:creationId xmlns:p14="http://schemas.microsoft.com/office/powerpoint/2010/main" val="6187956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AR" dirty="0"/>
              <a:t>Normalizar la simbología </a:t>
            </a:r>
            <a:br>
              <a:rPr lang="es-AR" dirty="0"/>
            </a:br>
            <a:r>
              <a:rPr lang="es-AR" dirty="0"/>
              <a:t>Neumática e hidráulica </a:t>
            </a:r>
          </a:p>
        </p:txBody>
      </p:sp>
      <p:sp>
        <p:nvSpPr>
          <p:cNvPr id="3" name="2 Marcador de contenido"/>
          <p:cNvSpPr>
            <a:spLocks noGrp="1"/>
          </p:cNvSpPr>
          <p:nvPr>
            <p:ph idx="1"/>
          </p:nvPr>
        </p:nvSpPr>
        <p:spPr>
          <a:xfrm>
            <a:off x="457200" y="1628800"/>
            <a:ext cx="8229600" cy="4525963"/>
          </a:xfrm>
        </p:spPr>
        <p:txBody>
          <a:bodyPr>
            <a:normAutofit/>
          </a:bodyPr>
          <a:lstStyle/>
          <a:p>
            <a:pPr marL="0" indent="0">
              <a:buNone/>
            </a:pPr>
            <a:r>
              <a:rPr lang="es-AR" dirty="0" smtClean="0"/>
              <a:t>Ejemplo:</a:t>
            </a:r>
          </a:p>
          <a:p>
            <a:pPr marL="0" indent="0">
              <a:buNone/>
            </a:pPr>
            <a:r>
              <a:rPr lang="es-AR" sz="2400" b="1" dirty="0">
                <a:latin typeface="Arial" pitchFamily="34" charset="0"/>
                <a:cs typeface="Arial" pitchFamily="34" charset="0"/>
              </a:rPr>
              <a:t>Designación de conexiones,</a:t>
            </a:r>
          </a:p>
          <a:p>
            <a:pPr marL="0" indent="0">
              <a:buNone/>
            </a:pPr>
            <a:r>
              <a:rPr lang="es-AR" sz="2400" b="1" dirty="0">
                <a:latin typeface="Arial" pitchFamily="34" charset="0"/>
                <a:cs typeface="Arial" pitchFamily="34" charset="0"/>
              </a:rPr>
              <a:t>normas básicas de representación</a:t>
            </a:r>
          </a:p>
          <a:p>
            <a:pPr marL="0" indent="0">
              <a:buNone/>
            </a:pPr>
            <a:r>
              <a:rPr lang="es-AR" sz="2400" dirty="0">
                <a:latin typeface="Arial" pitchFamily="34" charset="0"/>
                <a:cs typeface="Arial" pitchFamily="34" charset="0"/>
              </a:rPr>
              <a:t>Las válvulas </a:t>
            </a:r>
            <a:r>
              <a:rPr lang="es-AR" sz="2400" dirty="0" smtClean="0">
                <a:latin typeface="Arial" pitchFamily="34" charset="0"/>
                <a:cs typeface="Arial" pitchFamily="34" charset="0"/>
              </a:rPr>
              <a:t>se representan:</a:t>
            </a:r>
          </a:p>
          <a:p>
            <a:pPr marL="0" indent="0">
              <a:buNone/>
            </a:pPr>
            <a:endParaRPr lang="es-AR"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736" y="3501008"/>
            <a:ext cx="5029200" cy="2105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23929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95536" y="116632"/>
            <a:ext cx="8229600" cy="1143000"/>
          </a:xfrm>
        </p:spPr>
        <p:txBody>
          <a:bodyPr>
            <a:normAutofit fontScale="90000"/>
          </a:bodyPr>
          <a:lstStyle/>
          <a:p>
            <a:r>
              <a:rPr lang="es-AR" dirty="0"/>
              <a:t>Normalizar la simbología </a:t>
            </a:r>
            <a:br>
              <a:rPr lang="es-AR" dirty="0"/>
            </a:br>
            <a:r>
              <a:rPr lang="es-AR" dirty="0"/>
              <a:t>Neumática e hidráulica </a:t>
            </a:r>
          </a:p>
        </p:txBody>
      </p:sp>
      <p:sp>
        <p:nvSpPr>
          <p:cNvPr id="3" name="2 Marcador de contenido"/>
          <p:cNvSpPr>
            <a:spLocks noGrp="1"/>
          </p:cNvSpPr>
          <p:nvPr>
            <p:ph idx="1"/>
          </p:nvPr>
        </p:nvSpPr>
        <p:spPr>
          <a:xfrm>
            <a:off x="395536" y="1412776"/>
            <a:ext cx="8291264" cy="4713387"/>
          </a:xfrm>
        </p:spPr>
        <p:txBody>
          <a:bodyPr/>
          <a:lstStyle/>
          <a:p>
            <a:pPr marL="0" indent="0">
              <a:buNone/>
            </a:pPr>
            <a:r>
              <a:rPr lang="es-AR" sz="2400" dirty="0" smtClean="0">
                <a:latin typeface="Arial" pitchFamily="34" charset="0"/>
                <a:cs typeface="Arial" pitchFamily="34" charset="0"/>
              </a:rPr>
              <a:t>En </a:t>
            </a:r>
            <a:r>
              <a:rPr lang="es-AR" sz="2400" dirty="0">
                <a:latin typeface="Arial" pitchFamily="34" charset="0"/>
                <a:cs typeface="Arial" pitchFamily="34" charset="0"/>
              </a:rPr>
              <a:t>primer lugar el número </a:t>
            </a:r>
            <a:r>
              <a:rPr lang="es-AR" sz="2400" dirty="0" smtClean="0">
                <a:latin typeface="Arial" pitchFamily="34" charset="0"/>
                <a:cs typeface="Arial" pitchFamily="34" charset="0"/>
              </a:rPr>
              <a:t>de vías </a:t>
            </a:r>
            <a:r>
              <a:rPr lang="es-AR" sz="2400" dirty="0">
                <a:latin typeface="Arial" pitchFamily="34" charset="0"/>
                <a:cs typeface="Arial" pitchFamily="34" charset="0"/>
              </a:rPr>
              <a:t>(orificios de entrada o salida) y a </a:t>
            </a:r>
            <a:r>
              <a:rPr lang="es-AR" sz="2400" dirty="0" smtClean="0">
                <a:latin typeface="Arial" pitchFamily="34" charset="0"/>
                <a:cs typeface="Arial" pitchFamily="34" charset="0"/>
              </a:rPr>
              <a:t>continuación el </a:t>
            </a:r>
            <a:r>
              <a:rPr lang="es-AR" sz="2400" dirty="0">
                <a:latin typeface="Arial" pitchFamily="34" charset="0"/>
                <a:cs typeface="Arial" pitchFamily="34" charset="0"/>
              </a:rPr>
              <a:t>número de posiciones</a:t>
            </a:r>
            <a:r>
              <a:rPr lang="es-AR" dirty="0" smtClean="0">
                <a:latin typeface="Arial" pitchFamily="34" charset="0"/>
                <a:cs typeface="Arial" pitchFamily="34" charset="0"/>
              </a:rPr>
              <a:t>.</a:t>
            </a:r>
          </a:p>
          <a:p>
            <a:pPr marL="0" indent="0">
              <a:buNone/>
            </a:pPr>
            <a:endParaRPr lang="es-AR"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5776" y="2420888"/>
            <a:ext cx="4248472" cy="38885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592577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AR" dirty="0"/>
              <a:t>Normalizar la simbología </a:t>
            </a:r>
            <a:br>
              <a:rPr lang="es-AR" dirty="0"/>
            </a:br>
            <a:r>
              <a:rPr lang="es-AR" dirty="0"/>
              <a:t>Neumática e hidráulica </a:t>
            </a:r>
          </a:p>
        </p:txBody>
      </p:sp>
      <p:sp>
        <p:nvSpPr>
          <p:cNvPr id="3" name="2 Marcador de contenido"/>
          <p:cNvSpPr>
            <a:spLocks noGrp="1"/>
          </p:cNvSpPr>
          <p:nvPr>
            <p:ph idx="1"/>
          </p:nvPr>
        </p:nvSpPr>
        <p:spPr>
          <a:xfrm>
            <a:off x="323528" y="1484784"/>
            <a:ext cx="8003232" cy="4349079"/>
          </a:xfrm>
        </p:spPr>
        <p:txBody>
          <a:bodyPr>
            <a:noAutofit/>
          </a:bodyPr>
          <a:lstStyle/>
          <a:p>
            <a:pPr marL="0" indent="0" algn="ctr">
              <a:buNone/>
            </a:pPr>
            <a:r>
              <a:rPr lang="es-AR" sz="2000" dirty="0">
                <a:latin typeface="Arial" pitchFamily="34" charset="0"/>
                <a:cs typeface="Arial" pitchFamily="34" charset="0"/>
              </a:rPr>
              <a:t>1.- Cada posición se indica por un cuadrado.</a:t>
            </a:r>
          </a:p>
          <a:p>
            <a:pPr marL="0" indent="0" algn="ctr">
              <a:buNone/>
            </a:pPr>
            <a:r>
              <a:rPr lang="es-AR" sz="2000" dirty="0">
                <a:latin typeface="Arial" pitchFamily="34" charset="0"/>
                <a:cs typeface="Arial" pitchFamily="34" charset="0"/>
              </a:rPr>
              <a:t>2.- Se indica en cada </a:t>
            </a:r>
            <a:r>
              <a:rPr lang="es-AR" sz="2000" dirty="0" smtClean="0">
                <a:latin typeface="Arial" pitchFamily="34" charset="0"/>
                <a:cs typeface="Arial" pitchFamily="34" charset="0"/>
              </a:rPr>
              <a:t>cuadrado, </a:t>
            </a:r>
            <a:r>
              <a:rPr lang="es-AR" sz="2000" dirty="0">
                <a:latin typeface="Arial" pitchFamily="34" charset="0"/>
                <a:cs typeface="Arial" pitchFamily="34" charset="0"/>
              </a:rPr>
              <a:t>las</a:t>
            </a:r>
          </a:p>
          <a:p>
            <a:pPr marL="0" indent="0" algn="ctr">
              <a:buNone/>
            </a:pPr>
            <a:r>
              <a:rPr lang="es-AR" sz="2000" dirty="0">
                <a:latin typeface="Arial" pitchFamily="34" charset="0"/>
                <a:cs typeface="Arial" pitchFamily="34" charset="0"/>
              </a:rPr>
              <a:t>canalizaciones, el sentido del flujo y la situación de</a:t>
            </a:r>
          </a:p>
          <a:p>
            <a:pPr marL="0" indent="0" algn="ctr">
              <a:buNone/>
            </a:pPr>
            <a:r>
              <a:rPr lang="es-AR" sz="2000" dirty="0">
                <a:latin typeface="Arial" pitchFamily="34" charset="0"/>
                <a:cs typeface="Arial" pitchFamily="34" charset="0"/>
              </a:rPr>
              <a:t>las conexiones (vías).</a:t>
            </a:r>
          </a:p>
          <a:p>
            <a:pPr marL="0" indent="0" algn="ctr">
              <a:buNone/>
            </a:pPr>
            <a:r>
              <a:rPr lang="es-AR" sz="2000" dirty="0">
                <a:latin typeface="Arial" pitchFamily="34" charset="0"/>
                <a:cs typeface="Arial" pitchFamily="34" charset="0"/>
              </a:rPr>
              <a:t>3.- Las vías de las válvulas se dibujan en la</a:t>
            </a:r>
          </a:p>
          <a:p>
            <a:pPr marL="0" indent="0" algn="ctr">
              <a:buNone/>
            </a:pPr>
            <a:r>
              <a:rPr lang="es-AR" sz="2000" dirty="0">
                <a:latin typeface="Arial" pitchFamily="34" charset="0"/>
                <a:cs typeface="Arial" pitchFamily="34" charset="0"/>
              </a:rPr>
              <a:t>posición de reposo</a:t>
            </a:r>
            <a:r>
              <a:rPr lang="es-AR" sz="2000" dirty="0" smtClean="0">
                <a:latin typeface="Arial" pitchFamily="34" charset="0"/>
                <a:cs typeface="Arial" pitchFamily="34" charset="0"/>
              </a:rPr>
              <a:t>.</a:t>
            </a:r>
          </a:p>
          <a:p>
            <a:pPr marL="0" indent="0" algn="ctr">
              <a:buNone/>
            </a:pPr>
            <a:r>
              <a:rPr lang="es-AR" sz="2000" dirty="0">
                <a:latin typeface="Arial" pitchFamily="34" charset="0"/>
                <a:cs typeface="Arial" pitchFamily="34" charset="0"/>
              </a:rPr>
              <a:t>4.- El desplazamiento a la posición de trabajo se</a:t>
            </a:r>
          </a:p>
          <a:p>
            <a:pPr marL="0" indent="0" algn="ctr">
              <a:buNone/>
            </a:pPr>
            <a:r>
              <a:rPr lang="es-AR" sz="2000" dirty="0">
                <a:latin typeface="Arial" pitchFamily="34" charset="0"/>
                <a:cs typeface="Arial" pitchFamily="34" charset="0"/>
              </a:rPr>
              <a:t>realiza transversalmente, hasta que las</a:t>
            </a:r>
          </a:p>
          <a:p>
            <a:pPr marL="0" indent="0" algn="ctr">
              <a:buNone/>
            </a:pPr>
            <a:r>
              <a:rPr lang="es-AR" sz="2000" dirty="0">
                <a:latin typeface="Arial" pitchFamily="34" charset="0"/>
                <a:cs typeface="Arial" pitchFamily="34" charset="0"/>
              </a:rPr>
              <a:t>canalizaciones coinciden con las vías en la nueva</a:t>
            </a:r>
          </a:p>
          <a:p>
            <a:pPr marL="0" indent="0" algn="ctr">
              <a:buNone/>
            </a:pPr>
            <a:r>
              <a:rPr lang="es-AR" sz="2000" dirty="0">
                <a:latin typeface="Arial" pitchFamily="34" charset="0"/>
                <a:cs typeface="Arial" pitchFamily="34" charset="0"/>
              </a:rPr>
              <a:t>posición.</a:t>
            </a:r>
          </a:p>
          <a:p>
            <a:pPr marL="0" indent="0" algn="ctr">
              <a:buNone/>
            </a:pPr>
            <a:r>
              <a:rPr lang="es-AR" sz="2000" dirty="0">
                <a:latin typeface="Arial" pitchFamily="34" charset="0"/>
                <a:cs typeface="Arial" pitchFamily="34" charset="0"/>
              </a:rPr>
              <a:t>5.- También se indica el tipo de mando que</a:t>
            </a:r>
          </a:p>
          <a:p>
            <a:pPr marL="0" indent="0" algn="ctr">
              <a:buNone/>
            </a:pPr>
            <a:r>
              <a:rPr lang="es-AR" sz="2000" dirty="0">
                <a:latin typeface="Arial" pitchFamily="34" charset="0"/>
                <a:cs typeface="Arial" pitchFamily="34" charset="0"/>
              </a:rPr>
              <a:t>modifica la posición de la válvula (señal de pilotaje).</a:t>
            </a:r>
          </a:p>
          <a:p>
            <a:pPr marL="0" indent="0" algn="ctr">
              <a:buNone/>
            </a:pPr>
            <a:r>
              <a:rPr lang="es-AR" sz="2000" dirty="0">
                <a:latin typeface="Arial" pitchFamily="34" charset="0"/>
                <a:cs typeface="Arial" pitchFamily="34" charset="0"/>
              </a:rPr>
              <a:t>Puede ser manual, por muelle, por presión ...</a:t>
            </a:r>
          </a:p>
        </p:txBody>
      </p:sp>
    </p:spTree>
    <p:extLst>
      <p:ext uri="{BB962C8B-B14F-4D97-AF65-F5344CB8AC3E}">
        <p14:creationId xmlns:p14="http://schemas.microsoft.com/office/powerpoint/2010/main" val="22339009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AR" dirty="0"/>
              <a:t>Normalizar la simbología </a:t>
            </a:r>
            <a:br>
              <a:rPr lang="es-AR" dirty="0"/>
            </a:br>
            <a:r>
              <a:rPr lang="es-AR" dirty="0"/>
              <a:t>Neumática e hidráulica </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3543" y="1484784"/>
            <a:ext cx="4032448" cy="50124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75991" y="2694863"/>
            <a:ext cx="4729789" cy="2592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677797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AR" dirty="0"/>
              <a:t>Normalizar la simbología </a:t>
            </a:r>
            <a:br>
              <a:rPr lang="es-AR" dirty="0"/>
            </a:br>
            <a:r>
              <a:rPr lang="es-AR" dirty="0"/>
              <a:t>Neumática e hidráulica </a:t>
            </a:r>
          </a:p>
        </p:txBody>
      </p:sp>
      <p:sp>
        <p:nvSpPr>
          <p:cNvPr id="3" name="2 Marcador de contenido"/>
          <p:cNvSpPr>
            <a:spLocks noGrp="1"/>
          </p:cNvSpPr>
          <p:nvPr>
            <p:ph idx="1"/>
          </p:nvPr>
        </p:nvSpPr>
        <p:spPr/>
        <p:txBody>
          <a:bodyPr>
            <a:normAutofit/>
          </a:bodyPr>
          <a:lstStyle/>
          <a:p>
            <a:pPr marL="0" indent="0">
              <a:buNone/>
            </a:pPr>
            <a:r>
              <a:rPr lang="es-AR" sz="2400" dirty="0">
                <a:latin typeface="Arial" pitchFamily="34" charset="0"/>
                <a:cs typeface="Arial" pitchFamily="34" charset="0"/>
              </a:rPr>
              <a:t>La norma establece la identificación de los </a:t>
            </a:r>
            <a:r>
              <a:rPr lang="es-AR" sz="2400" dirty="0" smtClean="0">
                <a:latin typeface="Arial" pitchFamily="34" charset="0"/>
                <a:cs typeface="Arial" pitchFamily="34" charset="0"/>
              </a:rPr>
              <a:t>orificios (vías</a:t>
            </a:r>
            <a:r>
              <a:rPr lang="es-AR" sz="2400" dirty="0">
                <a:latin typeface="Arial" pitchFamily="34" charset="0"/>
                <a:cs typeface="Arial" pitchFamily="34" charset="0"/>
              </a:rPr>
              <a:t>) </a:t>
            </a:r>
            <a:r>
              <a:rPr lang="es-AR" sz="2400" dirty="0" smtClean="0">
                <a:latin typeface="Arial" pitchFamily="34" charset="0"/>
                <a:cs typeface="Arial" pitchFamily="34" charset="0"/>
              </a:rPr>
              <a:t>de las válvulas</a:t>
            </a:r>
            <a:r>
              <a:rPr lang="es-AR" sz="2400" dirty="0">
                <a:latin typeface="Arial" pitchFamily="34" charset="0"/>
                <a:cs typeface="Arial" pitchFamily="34" charset="0"/>
              </a:rPr>
              <a:t>:</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9482" y="2384251"/>
            <a:ext cx="4953000" cy="1685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8856" y="4035017"/>
            <a:ext cx="4819650" cy="2352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577240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395536" y="1"/>
            <a:ext cx="8136904" cy="836712"/>
          </a:xfrm>
        </p:spPr>
        <p:txBody>
          <a:bodyPr>
            <a:normAutofit/>
          </a:bodyPr>
          <a:lstStyle/>
          <a:p>
            <a:pPr marL="0" indent="0">
              <a:buNone/>
            </a:pPr>
            <a:r>
              <a:rPr lang="es-AR" sz="2400" dirty="0">
                <a:latin typeface="Arial" pitchFamily="34" charset="0"/>
                <a:cs typeface="Arial" pitchFamily="34" charset="0"/>
              </a:rPr>
              <a:t>Conexiones e instrumentos </a:t>
            </a:r>
            <a:r>
              <a:rPr lang="es-AR" sz="2400" dirty="0" smtClean="0">
                <a:latin typeface="Arial" pitchFamily="34" charset="0"/>
                <a:cs typeface="Arial" pitchFamily="34" charset="0"/>
              </a:rPr>
              <a:t>de medición </a:t>
            </a:r>
            <a:r>
              <a:rPr lang="es-AR" sz="2400" dirty="0">
                <a:latin typeface="Arial" pitchFamily="34" charset="0"/>
                <a:cs typeface="Arial" pitchFamily="34" charset="0"/>
              </a:rPr>
              <a:t>y mantenimiento.</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404664"/>
            <a:ext cx="2808312" cy="48460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6176" y="404664"/>
            <a:ext cx="2676525" cy="6362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1840" y="436307"/>
            <a:ext cx="2686050" cy="5895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832427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84113" y="548680"/>
            <a:ext cx="8794501" cy="418058"/>
          </a:xfrm>
        </p:spPr>
        <p:txBody>
          <a:bodyPr>
            <a:normAutofit/>
          </a:bodyPr>
          <a:lstStyle/>
          <a:p>
            <a:r>
              <a:rPr lang="es-AR" sz="2000" dirty="0" smtClean="0">
                <a:latin typeface="Arial" pitchFamily="34" charset="0"/>
                <a:cs typeface="Arial" pitchFamily="34" charset="0"/>
              </a:rPr>
              <a:t>Bombas y Compresores</a:t>
            </a:r>
            <a:endParaRPr lang="es-AR" sz="2000" dirty="0">
              <a:latin typeface="Arial" pitchFamily="34" charset="0"/>
              <a:cs typeface="Arial" pitchFamily="34" charset="0"/>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7389" y="1379400"/>
            <a:ext cx="2657475" cy="809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7864" y="2132856"/>
            <a:ext cx="2667000" cy="426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883117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254237" y="44624"/>
            <a:ext cx="2376264" cy="504056"/>
          </a:xfrm>
        </p:spPr>
        <p:txBody>
          <a:bodyPr>
            <a:normAutofit/>
          </a:bodyPr>
          <a:lstStyle/>
          <a:p>
            <a:r>
              <a:rPr lang="es-AR" sz="2400" dirty="0" smtClean="0">
                <a:latin typeface="Arial" pitchFamily="34" charset="0"/>
                <a:cs typeface="Arial" pitchFamily="34" charset="0"/>
              </a:rPr>
              <a:t>Actuadores</a:t>
            </a:r>
            <a:endParaRPr lang="es-AR" sz="2400" dirty="0">
              <a:latin typeface="Arial" pitchFamily="34" charset="0"/>
              <a:cs typeface="Arial" pitchFamily="34" charset="0"/>
            </a:endParaRP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6287" y="548680"/>
            <a:ext cx="2647950" cy="2495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6287" y="3009900"/>
            <a:ext cx="2628900" cy="3848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97780" y="548680"/>
            <a:ext cx="2676525" cy="3914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28184" y="576943"/>
            <a:ext cx="2657475" cy="6257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997526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187624" y="116632"/>
            <a:ext cx="6984776" cy="360040"/>
          </a:xfrm>
        </p:spPr>
        <p:txBody>
          <a:bodyPr>
            <a:noAutofit/>
          </a:bodyPr>
          <a:lstStyle/>
          <a:p>
            <a:r>
              <a:rPr lang="es-AR" sz="2000" dirty="0" smtClean="0">
                <a:latin typeface="Arial" pitchFamily="34" charset="0"/>
                <a:cs typeface="Arial" pitchFamily="34" charset="0"/>
              </a:rPr>
              <a:t>Válvulas Direccionales</a:t>
            </a:r>
            <a:endParaRPr lang="es-AR" sz="2000" dirty="0">
              <a:latin typeface="Arial" pitchFamily="34" charset="0"/>
              <a:cs typeface="Arial" pitchFamily="34" charset="0"/>
            </a:endParaRP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802499"/>
            <a:ext cx="2647950" cy="4657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3848" y="823594"/>
            <a:ext cx="2657475" cy="2828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28184" y="802499"/>
            <a:ext cx="2657475" cy="4524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889132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3568" y="0"/>
            <a:ext cx="7859216" cy="548680"/>
          </a:xfrm>
        </p:spPr>
        <p:txBody>
          <a:bodyPr>
            <a:normAutofit/>
          </a:bodyPr>
          <a:lstStyle/>
          <a:p>
            <a:r>
              <a:rPr lang="es-AR" sz="2000" dirty="0" smtClean="0">
                <a:latin typeface="Arial" pitchFamily="34" charset="0"/>
                <a:cs typeface="Arial" pitchFamily="34" charset="0"/>
              </a:rPr>
              <a:t>Accionamientos</a:t>
            </a:r>
            <a:endParaRPr lang="es-AR" sz="2000" dirty="0">
              <a:latin typeface="Arial" pitchFamily="34" charset="0"/>
              <a:cs typeface="Arial" pitchFamily="34" charset="0"/>
            </a:endParaRP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958107"/>
            <a:ext cx="2638425" cy="4276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4048" y="819331"/>
            <a:ext cx="2657475" cy="2324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2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13572" y="3119090"/>
            <a:ext cx="2638425" cy="1714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53058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778098"/>
          </a:xfrm>
        </p:spPr>
        <p:txBody>
          <a:bodyPr>
            <a:normAutofit fontScale="90000"/>
          </a:bodyPr>
          <a:lstStyle/>
          <a:p>
            <a:r>
              <a:rPr lang="es-AR" dirty="0" smtClean="0"/>
              <a:t>Existen normas para construir componentes neumáticos</a:t>
            </a:r>
            <a:endParaRPr lang="es-AR" dirty="0"/>
          </a:p>
        </p:txBody>
      </p:sp>
      <p:sp>
        <p:nvSpPr>
          <p:cNvPr id="3" name="2 Marcador de contenido"/>
          <p:cNvSpPr>
            <a:spLocks noGrp="1"/>
          </p:cNvSpPr>
          <p:nvPr>
            <p:ph idx="1"/>
          </p:nvPr>
        </p:nvSpPr>
        <p:spPr>
          <a:xfrm>
            <a:off x="467544" y="1196752"/>
            <a:ext cx="8229600" cy="4525963"/>
          </a:xfrm>
        </p:spPr>
        <p:txBody>
          <a:bodyPr/>
          <a:lstStyle/>
          <a:p>
            <a:pPr marL="0" indent="0">
              <a:buNone/>
            </a:pPr>
            <a:r>
              <a:rPr lang="es-AR" dirty="0" smtClean="0">
                <a:latin typeface="Arial" pitchFamily="34" charset="0"/>
                <a:cs typeface="Arial" pitchFamily="34" charset="0"/>
              </a:rPr>
              <a:t>Norma ISO 6431:</a:t>
            </a:r>
          </a:p>
          <a:p>
            <a:pPr marL="0" indent="0">
              <a:buNone/>
            </a:pPr>
            <a:r>
              <a:rPr lang="es-AR" sz="2000" dirty="0" smtClean="0">
                <a:latin typeface="Arial" pitchFamily="34" charset="0"/>
                <a:cs typeface="Arial" pitchFamily="34" charset="0"/>
              </a:rPr>
              <a:t>Especificaciones para la construcción de cilindros</a:t>
            </a:r>
            <a:endParaRPr lang="es-AR" sz="2000" dirty="0">
              <a:latin typeface="Arial" pitchFamily="34" charset="0"/>
              <a:cs typeface="Arial" pitchFamily="34" charset="0"/>
            </a:endParaRP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8224" y="2648609"/>
            <a:ext cx="2528638" cy="27363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250515"/>
            <a:ext cx="6588224" cy="21419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3 Rectángulo"/>
          <p:cNvSpPr/>
          <p:nvPr/>
        </p:nvSpPr>
        <p:spPr>
          <a:xfrm>
            <a:off x="4283968" y="3140968"/>
            <a:ext cx="1872208" cy="4320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32180366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a:latin typeface="Arial" pitchFamily="34" charset="0"/>
                <a:cs typeface="Arial" pitchFamily="34" charset="0"/>
              </a:rPr>
              <a:t>Norma ISO 6431</a:t>
            </a:r>
            <a:endParaRPr lang="es-AR" dirty="0"/>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5363" y="1988840"/>
            <a:ext cx="8157018" cy="38884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301652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a:latin typeface="Arial" pitchFamily="34" charset="0"/>
                <a:cs typeface="Arial" pitchFamily="34" charset="0"/>
              </a:rPr>
              <a:t>Norma ISO 6431</a:t>
            </a:r>
            <a:endParaRPr lang="es-AR" dirty="0"/>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1412776"/>
            <a:ext cx="8377175" cy="33318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2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5157192"/>
            <a:ext cx="7172325" cy="1304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423848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67544" y="-677"/>
            <a:ext cx="8075240" cy="922114"/>
          </a:xfrm>
        </p:spPr>
        <p:txBody>
          <a:bodyPr/>
          <a:lstStyle/>
          <a:p>
            <a:r>
              <a:rPr lang="es-AR" dirty="0" smtClean="0"/>
              <a:t>Normas DIN 2403</a:t>
            </a:r>
            <a:endParaRPr lang="es-AR" dirty="0"/>
          </a:p>
        </p:txBody>
      </p:sp>
      <p:sp>
        <p:nvSpPr>
          <p:cNvPr id="3" name="2 Marcador de contenido"/>
          <p:cNvSpPr>
            <a:spLocks noGrp="1"/>
          </p:cNvSpPr>
          <p:nvPr>
            <p:ph idx="1"/>
          </p:nvPr>
        </p:nvSpPr>
        <p:spPr>
          <a:xfrm>
            <a:off x="395536" y="728869"/>
            <a:ext cx="8208912" cy="864096"/>
          </a:xfrm>
        </p:spPr>
        <p:txBody>
          <a:bodyPr/>
          <a:lstStyle/>
          <a:p>
            <a:pPr marL="0" indent="0">
              <a:buNone/>
            </a:pPr>
            <a:r>
              <a:rPr lang="es-AR" dirty="0" smtClean="0"/>
              <a:t>Color identificativo de tuberías</a:t>
            </a:r>
            <a:endParaRPr lang="es-AR"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5776" y="1268760"/>
            <a:ext cx="4324350" cy="5362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690103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DIN ISO 7183</a:t>
            </a:r>
            <a:endParaRPr lang="es-AR" dirty="0"/>
          </a:p>
        </p:txBody>
      </p:sp>
      <p:sp>
        <p:nvSpPr>
          <p:cNvPr id="3" name="2 Marcador de contenido"/>
          <p:cNvSpPr>
            <a:spLocks noGrp="1"/>
          </p:cNvSpPr>
          <p:nvPr>
            <p:ph idx="1"/>
          </p:nvPr>
        </p:nvSpPr>
        <p:spPr>
          <a:xfrm>
            <a:off x="467544" y="1268760"/>
            <a:ext cx="8424936" cy="5400600"/>
          </a:xfrm>
        </p:spPr>
        <p:txBody>
          <a:bodyPr>
            <a:normAutofit/>
          </a:bodyPr>
          <a:lstStyle/>
          <a:p>
            <a:pPr marL="0" indent="0">
              <a:buNone/>
            </a:pPr>
            <a:r>
              <a:rPr lang="es-AR" sz="2800" dirty="0" smtClean="0">
                <a:latin typeface="Arial" pitchFamily="34" charset="0"/>
                <a:cs typeface="Arial" pitchFamily="34" charset="0"/>
              </a:rPr>
              <a:t>Norma que deben cumplir los secadores de aire comprimido</a:t>
            </a:r>
          </a:p>
          <a:p>
            <a:pPr marL="0" indent="0">
              <a:buNone/>
            </a:pPr>
            <a:endParaRPr lang="es-AR" sz="2400" dirty="0">
              <a:latin typeface="Arial" pitchFamily="34" charset="0"/>
              <a:cs typeface="Arial" pitchFamily="34" charset="0"/>
            </a:endParaRPr>
          </a:p>
          <a:p>
            <a:pPr marL="0" indent="0">
              <a:buNone/>
            </a:pPr>
            <a:endParaRPr lang="es-AR" sz="2400" dirty="0" smtClean="0">
              <a:latin typeface="Arial" pitchFamily="34" charset="0"/>
              <a:cs typeface="Arial" pitchFamily="34" charset="0"/>
            </a:endParaRPr>
          </a:p>
          <a:p>
            <a:pPr marL="0" indent="0">
              <a:buNone/>
            </a:pPr>
            <a:endParaRPr lang="es-AR" sz="2400" dirty="0">
              <a:latin typeface="Arial" pitchFamily="34" charset="0"/>
              <a:cs typeface="Arial" pitchFamily="34" charset="0"/>
            </a:endParaRPr>
          </a:p>
          <a:p>
            <a:pPr marL="0" indent="0">
              <a:buNone/>
            </a:pPr>
            <a:endParaRPr lang="es-AR" sz="2400" dirty="0" smtClean="0">
              <a:latin typeface="Arial" pitchFamily="34" charset="0"/>
              <a:cs typeface="Arial" pitchFamily="34" charset="0"/>
            </a:endParaRPr>
          </a:p>
          <a:p>
            <a:pPr marL="0" indent="0">
              <a:buNone/>
            </a:pPr>
            <a:endParaRPr lang="es-AR" sz="2400" dirty="0" smtClean="0">
              <a:latin typeface="Arial" pitchFamily="34" charset="0"/>
              <a:cs typeface="Arial" pitchFamily="34" charset="0"/>
            </a:endParaRPr>
          </a:p>
          <a:p>
            <a:pPr marL="0" indent="0">
              <a:buNone/>
            </a:pPr>
            <a:r>
              <a:rPr lang="es-AR" sz="2400" dirty="0" smtClean="0">
                <a:latin typeface="Arial" pitchFamily="34" charset="0"/>
                <a:cs typeface="Arial" pitchFamily="34" charset="0"/>
              </a:rPr>
              <a:t>El </a:t>
            </a:r>
            <a:r>
              <a:rPr lang="es-AR" sz="2400" dirty="0">
                <a:latin typeface="Arial" pitchFamily="34" charset="0"/>
                <a:cs typeface="Arial" pitchFamily="34" charset="0"/>
              </a:rPr>
              <a:t>diseño de los secadores de </a:t>
            </a:r>
            <a:r>
              <a:rPr lang="es-AR" sz="2400" dirty="0" smtClean="0">
                <a:latin typeface="Arial" pitchFamily="34" charset="0"/>
                <a:cs typeface="Arial" pitchFamily="34" charset="0"/>
              </a:rPr>
              <a:t>refrigeración ofrece </a:t>
            </a:r>
            <a:r>
              <a:rPr lang="es-AR" sz="2400" dirty="0">
                <a:latin typeface="Arial" pitchFamily="34" charset="0"/>
                <a:cs typeface="Arial" pitchFamily="34" charset="0"/>
              </a:rPr>
              <a:t>múltiples características que aseguran un punto de </a:t>
            </a:r>
            <a:r>
              <a:rPr lang="es-AR" sz="2400" dirty="0" smtClean="0">
                <a:latin typeface="Arial" pitchFamily="34" charset="0"/>
                <a:cs typeface="Arial" pitchFamily="34" charset="0"/>
              </a:rPr>
              <a:t>rocío constante </a:t>
            </a:r>
            <a:r>
              <a:rPr lang="es-AR" sz="2400" dirty="0">
                <a:latin typeface="Arial" pitchFamily="34" charset="0"/>
                <a:cs typeface="Arial" pitchFamily="34" charset="0"/>
              </a:rPr>
              <a:t>para todos los niveles de carga y que </a:t>
            </a:r>
            <a:r>
              <a:rPr lang="es-AR" sz="2400" dirty="0" smtClean="0">
                <a:latin typeface="Arial" pitchFamily="34" charset="0"/>
                <a:cs typeface="Arial" pitchFamily="34" charset="0"/>
              </a:rPr>
              <a:t>proporcionarán un </a:t>
            </a:r>
            <a:r>
              <a:rPr lang="es-AR" sz="2400" dirty="0">
                <a:latin typeface="Arial" pitchFamily="34" charset="0"/>
                <a:cs typeface="Arial" pitchFamily="34" charset="0"/>
              </a:rPr>
              <a:t>rendimiento de aire seco continuo acorde con el </a:t>
            </a:r>
            <a:r>
              <a:rPr lang="es-AR" sz="2400" dirty="0" smtClean="0">
                <a:latin typeface="Arial" pitchFamily="34" charset="0"/>
                <a:cs typeface="Arial" pitchFamily="34" charset="0"/>
              </a:rPr>
              <a:t>estándar de </a:t>
            </a:r>
            <a:r>
              <a:rPr lang="es-AR" sz="2400" dirty="0">
                <a:latin typeface="Arial" pitchFamily="34" charset="0"/>
                <a:cs typeface="Arial" pitchFamily="34" charset="0"/>
              </a:rPr>
              <a:t>la industria ISO 7183.</a:t>
            </a:r>
            <a:endParaRPr lang="es-AR" sz="2400" dirty="0">
              <a:latin typeface="Arial" pitchFamily="34" charset="0"/>
              <a:cs typeface="Arial" pitchFamily="34" charset="0"/>
            </a:endParaRPr>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9832" y="2276872"/>
            <a:ext cx="2828925" cy="2057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929538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Norma ISO 1217</a:t>
            </a:r>
            <a:endParaRPr lang="es-AR" dirty="0"/>
          </a:p>
        </p:txBody>
      </p:sp>
      <p:sp>
        <p:nvSpPr>
          <p:cNvPr id="3" name="2 Marcador de contenido"/>
          <p:cNvSpPr>
            <a:spLocks noGrp="1"/>
          </p:cNvSpPr>
          <p:nvPr>
            <p:ph idx="1"/>
          </p:nvPr>
        </p:nvSpPr>
        <p:spPr>
          <a:xfrm>
            <a:off x="539552" y="1383958"/>
            <a:ext cx="8229600" cy="4525963"/>
          </a:xfrm>
        </p:spPr>
        <p:txBody>
          <a:bodyPr/>
          <a:lstStyle/>
          <a:p>
            <a:pPr marL="0" indent="0">
              <a:buNone/>
            </a:pPr>
            <a:r>
              <a:rPr lang="es-AR" dirty="0" smtClean="0"/>
              <a:t>Esta norma define el flujo de aire comprimido útil (en m3/min) que debe suministrar un compresor de rotativo de tornillos para las diferentes potencias.</a:t>
            </a:r>
            <a:endParaRPr lang="es-AR"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3356992"/>
            <a:ext cx="8028384" cy="10812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1840" y="4534542"/>
            <a:ext cx="2354386" cy="23124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428096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Norma ISO 8573-1</a:t>
            </a:r>
            <a:endParaRPr lang="es-AR" dirty="0"/>
          </a:p>
        </p:txBody>
      </p:sp>
      <p:sp>
        <p:nvSpPr>
          <p:cNvPr id="3" name="2 Marcador de contenido"/>
          <p:cNvSpPr>
            <a:spLocks noGrp="1"/>
          </p:cNvSpPr>
          <p:nvPr>
            <p:ph idx="1"/>
          </p:nvPr>
        </p:nvSpPr>
        <p:spPr>
          <a:xfrm>
            <a:off x="539552" y="1340768"/>
            <a:ext cx="8229600" cy="4525963"/>
          </a:xfrm>
        </p:spPr>
        <p:txBody>
          <a:bodyPr>
            <a:normAutofit/>
          </a:bodyPr>
          <a:lstStyle/>
          <a:p>
            <a:pPr marL="0" indent="0">
              <a:buNone/>
            </a:pPr>
            <a:r>
              <a:rPr lang="es-AR" sz="2400" dirty="0">
                <a:latin typeface="Arial" pitchFamily="34" charset="0"/>
                <a:cs typeface="Arial" pitchFamily="34" charset="0"/>
              </a:rPr>
              <a:t>El mantenimiento de la calidad del aire es </a:t>
            </a:r>
            <a:r>
              <a:rPr lang="es-AR" sz="2400" dirty="0" smtClean="0">
                <a:latin typeface="Arial" pitchFamily="34" charset="0"/>
                <a:cs typeface="Arial" pitchFamily="34" charset="0"/>
              </a:rPr>
              <a:t>tan </a:t>
            </a:r>
            <a:r>
              <a:rPr lang="fr-FR" sz="2400" dirty="0" smtClean="0">
                <a:latin typeface="Arial" pitchFamily="34" charset="0"/>
                <a:cs typeface="Arial" pitchFamily="34" charset="0"/>
              </a:rPr>
              <a:t>importante </a:t>
            </a:r>
            <a:r>
              <a:rPr lang="fr-FR" sz="2400" dirty="0">
                <a:latin typeface="Arial" pitchFamily="34" charset="0"/>
                <a:cs typeface="Arial" pitchFamily="34" charset="0"/>
              </a:rPr>
              <a:t>que la International </a:t>
            </a:r>
            <a:r>
              <a:rPr lang="fr-FR" sz="2400" dirty="0" smtClean="0">
                <a:latin typeface="Arial" pitchFamily="34" charset="0"/>
                <a:cs typeface="Arial" pitchFamily="34" charset="0"/>
              </a:rPr>
              <a:t>Standards </a:t>
            </a:r>
            <a:r>
              <a:rPr lang="es-AR" sz="2400" dirty="0" err="1" smtClean="0">
                <a:latin typeface="Arial" pitchFamily="34" charset="0"/>
                <a:cs typeface="Arial" pitchFamily="34" charset="0"/>
              </a:rPr>
              <a:t>Organisation</a:t>
            </a:r>
            <a:r>
              <a:rPr lang="es-AR" sz="2400" dirty="0" smtClean="0">
                <a:latin typeface="Arial" pitchFamily="34" charset="0"/>
                <a:cs typeface="Arial" pitchFamily="34" charset="0"/>
              </a:rPr>
              <a:t> </a:t>
            </a:r>
            <a:r>
              <a:rPr lang="es-AR" sz="2400" dirty="0">
                <a:latin typeface="Arial" pitchFamily="34" charset="0"/>
                <a:cs typeface="Arial" pitchFamily="34" charset="0"/>
              </a:rPr>
              <a:t>(ISO) desarrolló seis clases </a:t>
            </a:r>
            <a:r>
              <a:rPr lang="es-AR" sz="2400" dirty="0" smtClean="0">
                <a:latin typeface="Arial" pitchFamily="34" charset="0"/>
                <a:cs typeface="Arial" pitchFamily="34" charset="0"/>
              </a:rPr>
              <a:t>de calidad </a:t>
            </a:r>
            <a:r>
              <a:rPr lang="es-AR" sz="2400" dirty="0">
                <a:latin typeface="Arial" pitchFamily="34" charset="0"/>
                <a:cs typeface="Arial" pitchFamily="34" charset="0"/>
              </a:rPr>
              <a:t>del aire comprimido que </a:t>
            </a:r>
            <a:r>
              <a:rPr lang="es-AR" sz="2400" dirty="0" smtClean="0">
                <a:latin typeface="Arial" pitchFamily="34" charset="0"/>
                <a:cs typeface="Arial" pitchFamily="34" charset="0"/>
              </a:rPr>
              <a:t>quedaron definidas </a:t>
            </a:r>
            <a:r>
              <a:rPr lang="es-AR" sz="2400" dirty="0">
                <a:latin typeface="Arial" pitchFamily="34" charset="0"/>
                <a:cs typeface="Arial" pitchFamily="34" charset="0"/>
              </a:rPr>
              <a:t>en la norma ISO 8573-1</a:t>
            </a:r>
            <a:r>
              <a:rPr lang="es-AR" sz="2400" dirty="0" smtClean="0">
                <a:latin typeface="Arial" pitchFamily="34" charset="0"/>
                <a:cs typeface="Arial" pitchFamily="34" charset="0"/>
              </a:rPr>
              <a:t>.</a:t>
            </a:r>
          </a:p>
          <a:p>
            <a:pPr marL="0" indent="0">
              <a:buNone/>
            </a:pPr>
            <a:endParaRPr lang="es-AR" sz="2800" dirty="0">
              <a:latin typeface="Arial" pitchFamily="34" charset="0"/>
              <a:cs typeface="Arial" pitchFamily="34" charset="0"/>
            </a:endParaRPr>
          </a:p>
          <a:p>
            <a:pPr marL="0" indent="0">
              <a:buNone/>
            </a:pPr>
            <a:endParaRPr lang="es-AR" sz="2800" dirty="0">
              <a:latin typeface="Arial" pitchFamily="34" charset="0"/>
              <a:cs typeface="Arial" pitchFamily="34" charset="0"/>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3768" y="2852936"/>
            <a:ext cx="3600400" cy="15121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648" y="4153686"/>
            <a:ext cx="6555499" cy="26757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912246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Norma ISO 3320</a:t>
            </a:r>
            <a:endParaRPr lang="es-AR" dirty="0"/>
          </a:p>
        </p:txBody>
      </p:sp>
      <p:sp>
        <p:nvSpPr>
          <p:cNvPr id="3" name="2 Marcador de contenido"/>
          <p:cNvSpPr>
            <a:spLocks noGrp="1"/>
          </p:cNvSpPr>
          <p:nvPr>
            <p:ph idx="1"/>
          </p:nvPr>
        </p:nvSpPr>
        <p:spPr/>
        <p:txBody>
          <a:bodyPr/>
          <a:lstStyle/>
          <a:p>
            <a:pPr marL="0" indent="0">
              <a:buNone/>
            </a:pPr>
            <a:r>
              <a:rPr lang="es-AR" dirty="0" smtClean="0"/>
              <a:t>Estas normas definen los diámetros de vástagos y pistón para actuadores hidráulicos.</a:t>
            </a:r>
          </a:p>
          <a:p>
            <a:pPr marL="0" indent="0">
              <a:buNone/>
            </a:pPr>
            <a:endParaRPr lang="es-AR" dirty="0"/>
          </a:p>
          <a:p>
            <a:pPr marL="0" indent="0">
              <a:buNone/>
            </a:pPr>
            <a:endParaRPr lang="es-AR" dirty="0"/>
          </a:p>
        </p:txBody>
      </p:sp>
      <p:pic>
        <p:nvPicPr>
          <p:cNvPr id="6" name="1 Imagen"/>
          <p:cNvPicPr>
            <a:picLocks noChangeAspect="1"/>
          </p:cNvPicPr>
          <p:nvPr/>
        </p:nvPicPr>
        <p:blipFill rotWithShape="1">
          <a:blip r:embed="rId2"/>
          <a:srcRect l="22678" t="20079" r="21927" b="20833"/>
          <a:stretch/>
        </p:blipFill>
        <p:spPr>
          <a:xfrm>
            <a:off x="1691680" y="2780928"/>
            <a:ext cx="5827365" cy="3496419"/>
          </a:xfrm>
          <a:prstGeom prst="rect">
            <a:avLst/>
          </a:prstGeom>
        </p:spPr>
      </p:pic>
    </p:spTree>
    <p:extLst>
      <p:ext uri="{BB962C8B-B14F-4D97-AF65-F5344CB8AC3E}">
        <p14:creationId xmlns:p14="http://schemas.microsoft.com/office/powerpoint/2010/main" val="34972941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Norma ISO 34489</a:t>
            </a:r>
            <a:endParaRPr lang="es-AR" dirty="0"/>
          </a:p>
        </p:txBody>
      </p:sp>
      <p:sp>
        <p:nvSpPr>
          <p:cNvPr id="3" name="2 Marcador de contenido"/>
          <p:cNvSpPr>
            <a:spLocks noGrp="1"/>
          </p:cNvSpPr>
          <p:nvPr>
            <p:ph idx="1"/>
          </p:nvPr>
        </p:nvSpPr>
        <p:spPr/>
        <p:txBody>
          <a:bodyPr>
            <a:normAutofit/>
          </a:bodyPr>
          <a:lstStyle/>
          <a:p>
            <a:pPr marL="0" indent="0">
              <a:buNone/>
            </a:pPr>
            <a:r>
              <a:rPr lang="es-AR" sz="2800" dirty="0">
                <a:latin typeface="Arial" pitchFamily="34" charset="0"/>
                <a:cs typeface="Arial" pitchFamily="34" charset="0"/>
              </a:rPr>
              <a:t>Las normas ISO 3448 </a:t>
            </a:r>
            <a:r>
              <a:rPr lang="es-AR" sz="2800" dirty="0" smtClean="0">
                <a:latin typeface="Arial" pitchFamily="34" charset="0"/>
                <a:cs typeface="Arial" pitchFamily="34" charset="0"/>
              </a:rPr>
              <a:t>tratan </a:t>
            </a:r>
            <a:r>
              <a:rPr lang="es-AR" sz="2800" dirty="0">
                <a:latin typeface="Arial" pitchFamily="34" charset="0"/>
                <a:cs typeface="Arial" pitchFamily="34" charset="0"/>
              </a:rPr>
              <a:t>de la </a:t>
            </a:r>
            <a:r>
              <a:rPr lang="es-AR" sz="2800" dirty="0" smtClean="0">
                <a:latin typeface="Arial" pitchFamily="34" charset="0"/>
                <a:cs typeface="Arial" pitchFamily="34" charset="0"/>
              </a:rPr>
              <a:t>viscosidad de </a:t>
            </a:r>
            <a:r>
              <a:rPr lang="es-AR" sz="2800" dirty="0">
                <a:latin typeface="Arial" pitchFamily="34" charset="0"/>
                <a:cs typeface="Arial" pitchFamily="34" charset="0"/>
              </a:rPr>
              <a:t>los fluidos y establecen básicamente su valor a 40°C </a:t>
            </a:r>
            <a:r>
              <a:rPr lang="es-AR" sz="2800" dirty="0" smtClean="0">
                <a:latin typeface="Arial" pitchFamily="34" charset="0"/>
                <a:cs typeface="Arial" pitchFamily="34" charset="0"/>
              </a:rPr>
              <a:t>y en </a:t>
            </a:r>
            <a:r>
              <a:rPr lang="es-AR" sz="2800" dirty="0" err="1">
                <a:latin typeface="Arial" pitchFamily="34" charset="0"/>
                <a:cs typeface="Arial" pitchFamily="34" charset="0"/>
              </a:rPr>
              <a:t>centistokes</a:t>
            </a:r>
            <a:r>
              <a:rPr lang="es-AR" sz="2800" dirty="0">
                <a:latin typeface="Arial" pitchFamily="34" charset="0"/>
                <a:cs typeface="Arial" pitchFamily="34" charset="0"/>
              </a:rPr>
              <a:t> (</a:t>
            </a:r>
            <a:r>
              <a:rPr lang="es-AR" sz="2800" dirty="0" err="1">
                <a:latin typeface="Arial" pitchFamily="34" charset="0"/>
                <a:cs typeface="Arial" pitchFamily="34" charset="0"/>
              </a:rPr>
              <a:t>cSt</a:t>
            </a:r>
            <a:r>
              <a:rPr lang="es-AR" sz="2800" dirty="0">
                <a:latin typeface="Arial" pitchFamily="34" charset="0"/>
                <a:cs typeface="Arial" pitchFamily="34" charset="0"/>
              </a:rPr>
              <a:t>). Por ejemplo, el </a:t>
            </a:r>
            <a:r>
              <a:rPr lang="es-AR" sz="2800" dirty="0" smtClean="0">
                <a:latin typeface="Arial" pitchFamily="34" charset="0"/>
                <a:cs typeface="Arial" pitchFamily="34" charset="0"/>
              </a:rPr>
              <a:t>fluido HM32 </a:t>
            </a:r>
            <a:r>
              <a:rPr lang="es-AR" sz="2800" dirty="0">
                <a:latin typeface="Arial" pitchFamily="34" charset="0"/>
                <a:cs typeface="Arial" pitchFamily="34" charset="0"/>
              </a:rPr>
              <a:t>es </a:t>
            </a:r>
            <a:r>
              <a:rPr lang="es-AR" sz="2800" dirty="0" smtClean="0">
                <a:latin typeface="Arial" pitchFamily="34" charset="0"/>
                <a:cs typeface="Arial" pitchFamily="34" charset="0"/>
              </a:rPr>
              <a:t>un aceite </a:t>
            </a:r>
            <a:r>
              <a:rPr lang="es-AR" sz="2800" dirty="0">
                <a:latin typeface="Arial" pitchFamily="34" charset="0"/>
                <a:cs typeface="Arial" pitchFamily="34" charset="0"/>
              </a:rPr>
              <a:t>mineral que tiene una </a:t>
            </a:r>
            <a:r>
              <a:rPr lang="es-AR" sz="2800" dirty="0" smtClean="0">
                <a:latin typeface="Arial" pitchFamily="34" charset="0"/>
                <a:cs typeface="Arial" pitchFamily="34" charset="0"/>
              </a:rPr>
              <a:t>viscosidad </a:t>
            </a:r>
            <a:r>
              <a:rPr lang="es-AR" sz="2800" dirty="0">
                <a:latin typeface="Arial" pitchFamily="34" charset="0"/>
                <a:cs typeface="Arial" pitchFamily="34" charset="0"/>
              </a:rPr>
              <a:t>de 32 </a:t>
            </a:r>
            <a:r>
              <a:rPr lang="es-AR" sz="2800" dirty="0" err="1">
                <a:latin typeface="Arial" pitchFamily="34" charset="0"/>
                <a:cs typeface="Arial" pitchFamily="34" charset="0"/>
              </a:rPr>
              <a:t>cSt</a:t>
            </a:r>
            <a:r>
              <a:rPr lang="es-AR" sz="2800" dirty="0">
                <a:latin typeface="Arial" pitchFamily="34" charset="0"/>
                <a:cs typeface="Arial" pitchFamily="34" charset="0"/>
              </a:rPr>
              <a:t> a 40°C.</a:t>
            </a:r>
            <a:endParaRPr lang="es-AR" sz="2800" dirty="0">
              <a:latin typeface="Arial" pitchFamily="34" charset="0"/>
              <a:cs typeface="Arial" pitchFamily="34" charset="0"/>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4599" y="4005064"/>
            <a:ext cx="8115300" cy="2581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511844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Norma ISO 2909</a:t>
            </a:r>
            <a:endParaRPr lang="es-AR" dirty="0"/>
          </a:p>
        </p:txBody>
      </p:sp>
      <p:sp>
        <p:nvSpPr>
          <p:cNvPr id="3" name="2 Marcador de contenido"/>
          <p:cNvSpPr>
            <a:spLocks noGrp="1"/>
          </p:cNvSpPr>
          <p:nvPr>
            <p:ph idx="1"/>
          </p:nvPr>
        </p:nvSpPr>
        <p:spPr>
          <a:xfrm>
            <a:off x="323528" y="1600201"/>
            <a:ext cx="8568952" cy="4493096"/>
          </a:xfrm>
        </p:spPr>
        <p:txBody>
          <a:bodyPr>
            <a:normAutofit fontScale="70000" lnSpcReduction="20000"/>
          </a:bodyPr>
          <a:lstStyle/>
          <a:p>
            <a:pPr marL="0" indent="0">
              <a:buNone/>
            </a:pPr>
            <a:r>
              <a:rPr lang="es-AR" dirty="0">
                <a:latin typeface="Arial" pitchFamily="34" charset="0"/>
                <a:cs typeface="Arial" pitchFamily="34" charset="0"/>
              </a:rPr>
              <a:t>El índice de viscosidad del fluido según la norma </a:t>
            </a:r>
            <a:r>
              <a:rPr lang="es-AR" dirty="0" smtClean="0">
                <a:latin typeface="Arial" pitchFamily="34" charset="0"/>
                <a:cs typeface="Arial" pitchFamily="34" charset="0"/>
              </a:rPr>
              <a:t>ISO</a:t>
            </a:r>
            <a:endParaRPr lang="es-AR" dirty="0">
              <a:latin typeface="Arial" pitchFamily="34" charset="0"/>
              <a:cs typeface="Arial" pitchFamily="34" charset="0"/>
            </a:endParaRPr>
          </a:p>
          <a:p>
            <a:pPr marL="0" indent="0">
              <a:buNone/>
            </a:pPr>
            <a:r>
              <a:rPr lang="es-AR" dirty="0">
                <a:latin typeface="Arial" pitchFamily="34" charset="0"/>
                <a:cs typeface="Arial" pitchFamily="34" charset="0"/>
              </a:rPr>
              <a:t>2909 describe los cambios de viscosidad de un fluido</a:t>
            </a:r>
          </a:p>
          <a:p>
            <a:pPr marL="0" indent="0">
              <a:buNone/>
            </a:pPr>
            <a:r>
              <a:rPr lang="es-AR" dirty="0">
                <a:latin typeface="Arial" pitchFamily="34" charset="0"/>
                <a:cs typeface="Arial" pitchFamily="34" charset="0"/>
              </a:rPr>
              <a:t>basado en aceite mineral o sintético con relación a la</a:t>
            </a:r>
          </a:p>
          <a:p>
            <a:pPr marL="0" indent="0">
              <a:buNone/>
            </a:pPr>
            <a:r>
              <a:rPr lang="es-AR" dirty="0">
                <a:latin typeface="Arial" pitchFamily="34" charset="0"/>
                <a:cs typeface="Arial" pitchFamily="34" charset="0"/>
              </a:rPr>
              <a:t>temperatura.</a:t>
            </a:r>
          </a:p>
          <a:p>
            <a:pPr marL="0" indent="0">
              <a:buNone/>
            </a:pPr>
            <a:r>
              <a:rPr lang="es-AR" dirty="0">
                <a:latin typeface="Arial" pitchFamily="34" charset="0"/>
                <a:cs typeface="Arial" pitchFamily="34" charset="0"/>
              </a:rPr>
              <a:t>Un índice alto de viscosidad indica pequeños cambios en</a:t>
            </a:r>
          </a:p>
          <a:p>
            <a:pPr marL="0" indent="0">
              <a:buNone/>
            </a:pPr>
            <a:r>
              <a:rPr lang="es-AR" dirty="0">
                <a:latin typeface="Arial" pitchFamily="34" charset="0"/>
                <a:cs typeface="Arial" pitchFamily="34" charset="0"/>
              </a:rPr>
              <a:t>la viscosidad cuando la temperatura cambia, y un índice</a:t>
            </a:r>
          </a:p>
          <a:p>
            <a:pPr marL="0" indent="0">
              <a:buNone/>
            </a:pPr>
            <a:r>
              <a:rPr lang="es-AR" dirty="0">
                <a:latin typeface="Arial" pitchFamily="34" charset="0"/>
                <a:cs typeface="Arial" pitchFamily="34" charset="0"/>
              </a:rPr>
              <a:t>bajo significa grandes cambios en la viscosidad frente a</a:t>
            </a:r>
          </a:p>
          <a:p>
            <a:pPr marL="0" indent="0">
              <a:buNone/>
            </a:pPr>
            <a:r>
              <a:rPr lang="es-AR" dirty="0">
                <a:latin typeface="Arial" pitchFamily="34" charset="0"/>
                <a:cs typeface="Arial" pitchFamily="34" charset="0"/>
              </a:rPr>
              <a:t>aumentos de la temperatura.</a:t>
            </a:r>
          </a:p>
          <a:p>
            <a:pPr marL="0" indent="0">
              <a:buNone/>
            </a:pPr>
            <a:r>
              <a:rPr lang="es-AR" dirty="0">
                <a:latin typeface="Arial" pitchFamily="34" charset="0"/>
                <a:cs typeface="Arial" pitchFamily="34" charset="0"/>
              </a:rPr>
              <a:t>La mayor parte de los fluidos hidráulicos tienen índices de</a:t>
            </a:r>
          </a:p>
          <a:p>
            <a:pPr marL="0" indent="0">
              <a:buNone/>
            </a:pPr>
            <a:r>
              <a:rPr lang="es-AR" dirty="0">
                <a:latin typeface="Arial" pitchFamily="34" charset="0"/>
                <a:cs typeface="Arial" pitchFamily="34" charset="0"/>
              </a:rPr>
              <a:t>viscosidad entre 90 y 110. Los que poseen un índice</a:t>
            </a:r>
          </a:p>
          <a:p>
            <a:pPr marL="0" indent="0">
              <a:buNone/>
            </a:pPr>
            <a:r>
              <a:rPr lang="es-AR" dirty="0">
                <a:latin typeface="Arial" pitchFamily="34" charset="0"/>
                <a:cs typeface="Arial" pitchFamily="34" charset="0"/>
              </a:rPr>
              <a:t>superior a 110 no son demasiado sensibles a los cambios</a:t>
            </a:r>
          </a:p>
          <a:p>
            <a:pPr marL="0" indent="0">
              <a:buNone/>
            </a:pPr>
            <a:r>
              <a:rPr lang="es-AR" dirty="0">
                <a:latin typeface="Arial" pitchFamily="34" charset="0"/>
                <a:cs typeface="Arial" pitchFamily="34" charset="0"/>
              </a:rPr>
              <a:t>en la temperatura y por lo tanto son los de elección a</a:t>
            </a:r>
          </a:p>
          <a:p>
            <a:pPr marL="0" indent="0">
              <a:buNone/>
            </a:pPr>
            <a:r>
              <a:rPr lang="es-AR" dirty="0">
                <a:latin typeface="Arial" pitchFamily="34" charset="0"/>
                <a:cs typeface="Arial" pitchFamily="34" charset="0"/>
              </a:rPr>
              <a:t>altas temperaturas de trabajo.</a:t>
            </a:r>
            <a:endParaRPr lang="es-AR" dirty="0">
              <a:latin typeface="Arial" pitchFamily="34" charset="0"/>
              <a:cs typeface="Arial" pitchFamily="34" charset="0"/>
            </a:endParaRPr>
          </a:p>
        </p:txBody>
      </p:sp>
    </p:spTree>
    <p:extLst>
      <p:ext uri="{BB962C8B-B14F-4D97-AF65-F5344CB8AC3E}">
        <p14:creationId xmlns:p14="http://schemas.microsoft.com/office/powerpoint/2010/main" val="4172152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AR" dirty="0" smtClean="0">
                <a:latin typeface="Arial" pitchFamily="34" charset="0"/>
                <a:cs typeface="Arial" pitchFamily="34" charset="0"/>
              </a:rPr>
              <a:t>Normas </a:t>
            </a:r>
            <a:r>
              <a:rPr lang="es-AR" dirty="0">
                <a:latin typeface="Arial" pitchFamily="34" charset="0"/>
                <a:cs typeface="Arial" pitchFamily="34" charset="0"/>
              </a:rPr>
              <a:t>DIN 51524 y DIN 51525</a:t>
            </a:r>
            <a:endParaRPr lang="es-AR" dirty="0"/>
          </a:p>
        </p:txBody>
      </p:sp>
      <p:sp>
        <p:nvSpPr>
          <p:cNvPr id="3" name="2 Marcador de contenido"/>
          <p:cNvSpPr>
            <a:spLocks noGrp="1"/>
          </p:cNvSpPr>
          <p:nvPr>
            <p:ph idx="1"/>
          </p:nvPr>
        </p:nvSpPr>
        <p:spPr/>
        <p:txBody>
          <a:bodyPr>
            <a:normAutofit fontScale="85000" lnSpcReduction="10000"/>
          </a:bodyPr>
          <a:lstStyle/>
          <a:p>
            <a:pPr marL="0" indent="0">
              <a:buNone/>
            </a:pPr>
            <a:r>
              <a:rPr lang="es-AR" dirty="0">
                <a:latin typeface="Arial" pitchFamily="34" charset="0"/>
                <a:cs typeface="Arial" pitchFamily="34" charset="0"/>
              </a:rPr>
              <a:t>Las normas DIN 51524 y DIN 51525 dividen a los</a:t>
            </a:r>
          </a:p>
          <a:p>
            <a:pPr marL="0" indent="0">
              <a:buNone/>
            </a:pPr>
            <a:r>
              <a:rPr lang="es-AR" dirty="0">
                <a:latin typeface="Arial" pitchFamily="34" charset="0"/>
                <a:cs typeface="Arial" pitchFamily="34" charset="0"/>
              </a:rPr>
              <a:t>fluidos hidráulicos en tres clases:</a:t>
            </a:r>
          </a:p>
          <a:p>
            <a:pPr marL="0" indent="0">
              <a:buNone/>
            </a:pPr>
            <a:r>
              <a:rPr lang="es-AR" dirty="0">
                <a:latin typeface="Arial" pitchFamily="34" charset="0"/>
                <a:cs typeface="Arial" pitchFamily="34" charset="0"/>
              </a:rPr>
              <a:t>Fluido hidráulico HL. Protege contra la corrosión y</a:t>
            </a:r>
          </a:p>
          <a:p>
            <a:pPr marL="0" indent="0">
              <a:buNone/>
            </a:pPr>
            <a:r>
              <a:rPr lang="es-AR" dirty="0">
                <a:latin typeface="Arial" pitchFamily="34" charset="0"/>
                <a:cs typeface="Arial" pitchFamily="34" charset="0"/>
              </a:rPr>
              <a:t>el </a:t>
            </a:r>
            <a:r>
              <a:rPr lang="es-AR" dirty="0" err="1">
                <a:latin typeface="Arial" pitchFamily="34" charset="0"/>
                <a:cs typeface="Arial" pitchFamily="34" charset="0"/>
              </a:rPr>
              <a:t>envejicimiento</a:t>
            </a:r>
            <a:r>
              <a:rPr lang="es-AR" dirty="0">
                <a:latin typeface="Arial" pitchFamily="34" charset="0"/>
                <a:cs typeface="Arial" pitchFamily="34" charset="0"/>
              </a:rPr>
              <a:t>.</a:t>
            </a:r>
          </a:p>
          <a:p>
            <a:pPr marL="0" indent="0">
              <a:buNone/>
            </a:pPr>
            <a:r>
              <a:rPr lang="es-AR" dirty="0">
                <a:latin typeface="Arial" pitchFamily="34" charset="0"/>
                <a:cs typeface="Arial" pitchFamily="34" charset="0"/>
              </a:rPr>
              <a:t>Fluido hidráulico HLP. Aumento de la protección</a:t>
            </a:r>
          </a:p>
          <a:p>
            <a:pPr marL="0" indent="0">
              <a:buNone/>
            </a:pPr>
            <a:r>
              <a:rPr lang="es-AR" dirty="0">
                <a:latin typeface="Arial" pitchFamily="34" charset="0"/>
                <a:cs typeface="Arial" pitchFamily="34" charset="0"/>
              </a:rPr>
              <a:t>contra el desgaste.</a:t>
            </a:r>
          </a:p>
          <a:p>
            <a:pPr marL="0" indent="0">
              <a:buNone/>
            </a:pPr>
            <a:r>
              <a:rPr lang="es-AR" dirty="0">
                <a:latin typeface="Arial" pitchFamily="34" charset="0"/>
                <a:cs typeface="Arial" pitchFamily="34" charset="0"/>
              </a:rPr>
              <a:t>Fluido hidráulico HV. Mejora las características de</a:t>
            </a:r>
          </a:p>
          <a:p>
            <a:pPr marL="0" indent="0">
              <a:buNone/>
            </a:pPr>
            <a:r>
              <a:rPr lang="es-AR" dirty="0">
                <a:latin typeface="Arial" pitchFamily="34" charset="0"/>
                <a:cs typeface="Arial" pitchFamily="34" charset="0"/>
              </a:rPr>
              <a:t>temperatura-viscosidad.</a:t>
            </a:r>
            <a:endParaRPr lang="es-AR" dirty="0">
              <a:latin typeface="Arial" pitchFamily="34" charset="0"/>
              <a:cs typeface="Arial" pitchFamily="34" charset="0"/>
            </a:endParaRPr>
          </a:p>
        </p:txBody>
      </p:sp>
    </p:spTree>
    <p:extLst>
      <p:ext uri="{BB962C8B-B14F-4D97-AF65-F5344CB8AC3E}">
        <p14:creationId xmlns:p14="http://schemas.microsoft.com/office/powerpoint/2010/main" val="4998845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Código IP</a:t>
            </a:r>
            <a:endParaRPr lang="es-AR" dirty="0"/>
          </a:p>
        </p:txBody>
      </p:sp>
      <p:sp>
        <p:nvSpPr>
          <p:cNvPr id="3" name="2 Marcador de contenido"/>
          <p:cNvSpPr>
            <a:spLocks noGrp="1"/>
          </p:cNvSpPr>
          <p:nvPr>
            <p:ph idx="1"/>
          </p:nvPr>
        </p:nvSpPr>
        <p:spPr>
          <a:xfrm>
            <a:off x="395536" y="1340769"/>
            <a:ext cx="8424936" cy="4464496"/>
          </a:xfrm>
        </p:spPr>
        <p:txBody>
          <a:bodyPr>
            <a:normAutofit fontScale="85000" lnSpcReduction="20000"/>
          </a:bodyPr>
          <a:lstStyle/>
          <a:p>
            <a:pPr marL="0" indent="0">
              <a:buNone/>
            </a:pPr>
            <a:r>
              <a:rPr lang="es-AR" dirty="0">
                <a:latin typeface="Arial" pitchFamily="34" charset="0"/>
                <a:cs typeface="Arial" pitchFamily="34" charset="0"/>
              </a:rPr>
              <a:t>D</a:t>
            </a:r>
            <a:r>
              <a:rPr lang="es-AR" dirty="0" smtClean="0">
                <a:latin typeface="Arial" pitchFamily="34" charset="0"/>
                <a:cs typeface="Arial" pitchFamily="34" charset="0"/>
              </a:rPr>
              <a:t>escribe </a:t>
            </a:r>
            <a:r>
              <a:rPr lang="es-AR" dirty="0">
                <a:latin typeface="Arial" pitchFamily="34" charset="0"/>
                <a:cs typeface="Arial" pitchFamily="34" charset="0"/>
              </a:rPr>
              <a:t>un sistema para clasificar los </a:t>
            </a:r>
            <a:r>
              <a:rPr lang="es-AR" dirty="0" smtClean="0">
                <a:latin typeface="Arial" pitchFamily="34" charset="0"/>
                <a:cs typeface="Arial" pitchFamily="34" charset="0"/>
              </a:rPr>
              <a:t>grados de </a:t>
            </a:r>
            <a:r>
              <a:rPr lang="es-AR" dirty="0">
                <a:latin typeface="Arial" pitchFamily="34" charset="0"/>
                <a:cs typeface="Arial" pitchFamily="34" charset="0"/>
              </a:rPr>
              <a:t>protección aportados al </a:t>
            </a:r>
            <a:r>
              <a:rPr lang="es-AR" dirty="0" smtClean="0">
                <a:latin typeface="Arial" pitchFamily="34" charset="0"/>
                <a:cs typeface="Arial" pitchFamily="34" charset="0"/>
              </a:rPr>
              <a:t>equipamiento </a:t>
            </a:r>
            <a:r>
              <a:rPr lang="es-AR" dirty="0">
                <a:latin typeface="Arial" pitchFamily="34" charset="0"/>
                <a:cs typeface="Arial" pitchFamily="34" charset="0"/>
              </a:rPr>
              <a:t>por </a:t>
            </a:r>
            <a:r>
              <a:rPr lang="es-AR" dirty="0" smtClean="0">
                <a:latin typeface="Arial" pitchFamily="34" charset="0"/>
                <a:cs typeface="Arial" pitchFamily="34" charset="0"/>
              </a:rPr>
              <a:t>los contenedores </a:t>
            </a:r>
            <a:r>
              <a:rPr lang="es-AR" dirty="0">
                <a:latin typeface="Arial" pitchFamily="34" charset="0"/>
                <a:cs typeface="Arial" pitchFamily="34" charset="0"/>
              </a:rPr>
              <a:t>que los protegen. Este estándar está diseñado </a:t>
            </a:r>
            <a:r>
              <a:rPr lang="es-AR" dirty="0" smtClean="0">
                <a:latin typeface="Arial" pitchFamily="34" charset="0"/>
                <a:cs typeface="Arial" pitchFamily="34" charset="0"/>
              </a:rPr>
              <a:t>para calificar </a:t>
            </a:r>
            <a:r>
              <a:rPr lang="es-AR" dirty="0">
                <a:latin typeface="Arial" pitchFamily="34" charset="0"/>
                <a:cs typeface="Arial" pitchFamily="34" charset="0"/>
              </a:rPr>
              <a:t>de manera numérica a un producto en el nivel de </a:t>
            </a:r>
            <a:r>
              <a:rPr lang="es-AR" dirty="0" smtClean="0">
                <a:latin typeface="Arial" pitchFamily="34" charset="0"/>
                <a:cs typeface="Arial" pitchFamily="34" charset="0"/>
              </a:rPr>
              <a:t>protección que </a:t>
            </a:r>
            <a:r>
              <a:rPr lang="es-AR" dirty="0">
                <a:latin typeface="Arial" pitchFamily="34" charset="0"/>
                <a:cs typeface="Arial" pitchFamily="34" charset="0"/>
              </a:rPr>
              <a:t>su contenedor le proporciona. Al asignar diferentes </a:t>
            </a:r>
            <a:r>
              <a:rPr lang="es-AR" dirty="0" smtClean="0">
                <a:latin typeface="Arial" pitchFamily="34" charset="0"/>
                <a:cs typeface="Arial" pitchFamily="34" charset="0"/>
              </a:rPr>
              <a:t>códigos numéricos</a:t>
            </a:r>
            <a:r>
              <a:rPr lang="es-AR" dirty="0">
                <a:latin typeface="Arial" pitchFamily="34" charset="0"/>
                <a:cs typeface="Arial" pitchFamily="34" charset="0"/>
              </a:rPr>
              <a:t>, el grado de protección del producto puede ser </a:t>
            </a:r>
            <a:r>
              <a:rPr lang="es-AR" dirty="0" smtClean="0">
                <a:latin typeface="Arial" pitchFamily="34" charset="0"/>
                <a:cs typeface="Arial" pitchFamily="34" charset="0"/>
              </a:rPr>
              <a:t>identificado de </a:t>
            </a:r>
            <a:r>
              <a:rPr lang="es-AR" dirty="0">
                <a:latin typeface="Arial" pitchFamily="34" charset="0"/>
                <a:cs typeface="Arial" pitchFamily="34" charset="0"/>
              </a:rPr>
              <a:t>manera rápida y con facilidad. Así, por ejemplo, en el </a:t>
            </a:r>
            <a:r>
              <a:rPr lang="es-AR" dirty="0" smtClean="0">
                <a:latin typeface="Arial" pitchFamily="34" charset="0"/>
                <a:cs typeface="Arial" pitchFamily="34" charset="0"/>
              </a:rPr>
              <a:t>código IP54, el </a:t>
            </a:r>
            <a:r>
              <a:rPr lang="es-AR" dirty="0">
                <a:latin typeface="Arial" pitchFamily="34" charset="0"/>
                <a:cs typeface="Arial" pitchFamily="34" charset="0"/>
              </a:rPr>
              <a:t>valor 5 en </a:t>
            </a:r>
            <a:r>
              <a:rPr lang="es-AR" dirty="0" smtClean="0">
                <a:latin typeface="Arial" pitchFamily="34" charset="0"/>
                <a:cs typeface="Arial" pitchFamily="34" charset="0"/>
              </a:rPr>
              <a:t>el primer </a:t>
            </a:r>
            <a:r>
              <a:rPr lang="es-AR" dirty="0">
                <a:latin typeface="Arial" pitchFamily="34" charset="0"/>
                <a:cs typeface="Arial" pitchFamily="34" charset="0"/>
              </a:rPr>
              <a:t>dígito describe el nivel de protección ante objetos sólidos y </a:t>
            </a:r>
            <a:r>
              <a:rPr lang="es-AR" dirty="0" smtClean="0">
                <a:latin typeface="Arial" pitchFamily="34" charset="0"/>
                <a:cs typeface="Arial" pitchFamily="34" charset="0"/>
              </a:rPr>
              <a:t>el valor </a:t>
            </a:r>
            <a:r>
              <a:rPr lang="es-AR" dirty="0">
                <a:latin typeface="Arial" pitchFamily="34" charset="0"/>
                <a:cs typeface="Arial" pitchFamily="34" charset="0"/>
              </a:rPr>
              <a:t>4 en el segundo dígito describe el nivel de protección frente </a:t>
            </a:r>
            <a:r>
              <a:rPr lang="es-AR" dirty="0" smtClean="0">
                <a:latin typeface="Arial" pitchFamily="34" charset="0"/>
                <a:cs typeface="Arial" pitchFamily="34" charset="0"/>
              </a:rPr>
              <a:t>a líquidos </a:t>
            </a:r>
            <a:r>
              <a:rPr lang="es-AR" dirty="0">
                <a:latin typeface="Arial" pitchFamily="34" charset="0"/>
                <a:cs typeface="Arial" pitchFamily="34" charset="0"/>
              </a:rPr>
              <a:t>(normalmente agua</a:t>
            </a:r>
            <a:r>
              <a:rPr lang="es-AR" dirty="0" smtClean="0">
                <a:latin typeface="Arial" pitchFamily="34" charset="0"/>
                <a:cs typeface="Arial" pitchFamily="34" charset="0"/>
              </a:rPr>
              <a:t>).</a:t>
            </a:r>
            <a:endParaRPr lang="es-AR" dirty="0">
              <a:latin typeface="Arial" pitchFamily="34" charset="0"/>
              <a:cs typeface="Arial" pitchFamily="34" charset="0"/>
            </a:endParaRPr>
          </a:p>
        </p:txBody>
      </p:sp>
    </p:spTree>
    <p:extLst>
      <p:ext uri="{BB962C8B-B14F-4D97-AF65-F5344CB8AC3E}">
        <p14:creationId xmlns:p14="http://schemas.microsoft.com/office/powerpoint/2010/main" val="31906757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a:t>Código IP</a:t>
            </a: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1196752"/>
            <a:ext cx="3096344" cy="46858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9018" y="1187489"/>
            <a:ext cx="3023564" cy="53765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5963912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519</TotalTime>
  <Words>1065</Words>
  <Application>Microsoft Office PowerPoint</Application>
  <PresentationFormat>Presentación en pantalla (4:3)</PresentationFormat>
  <Paragraphs>109</Paragraphs>
  <Slides>27</Slides>
  <Notes>1</Notes>
  <HiddenSlides>0</HiddenSlides>
  <MMClips>0</MMClips>
  <ScaleCrop>false</ScaleCrop>
  <HeadingPairs>
    <vt:vector size="4" baseType="variant">
      <vt:variant>
        <vt:lpstr>Tema</vt:lpstr>
      </vt:variant>
      <vt:variant>
        <vt:i4>1</vt:i4>
      </vt:variant>
      <vt:variant>
        <vt:lpstr>Títulos de diapositiva</vt:lpstr>
      </vt:variant>
      <vt:variant>
        <vt:i4>27</vt:i4>
      </vt:variant>
    </vt:vector>
  </HeadingPairs>
  <TitlesOfParts>
    <vt:vector size="28" baseType="lpstr">
      <vt:lpstr>Tema de Office</vt:lpstr>
      <vt:lpstr>Normas</vt:lpstr>
      <vt:lpstr>Normalización Definiciones</vt:lpstr>
      <vt:lpstr>Normalización Definiciones</vt:lpstr>
      <vt:lpstr>Normalizar la simbología  Neumática e hidráulica </vt:lpstr>
      <vt:lpstr>Normalizar la simbología  Neumática e hidráulica </vt:lpstr>
      <vt:lpstr>Normalizar la simbología  Neumática e hidráulica </vt:lpstr>
      <vt:lpstr>Normalizar la simbología  Neumática e hidráulica </vt:lpstr>
      <vt:lpstr>Normalizar la simbología  Neumática e hidráulica </vt:lpstr>
      <vt:lpstr>Normalizar la simbología  Neumática e hidráulica </vt:lpstr>
      <vt:lpstr>Presentación de PowerPoint</vt:lpstr>
      <vt:lpstr>Bombas y Compresores</vt:lpstr>
      <vt:lpstr>Actuadores</vt:lpstr>
      <vt:lpstr>Válvulas Direccionales</vt:lpstr>
      <vt:lpstr>Accionamientos</vt:lpstr>
      <vt:lpstr>Existen normas para construir componentes neumáticos</vt:lpstr>
      <vt:lpstr>Norma ISO 6431</vt:lpstr>
      <vt:lpstr>Norma ISO 6431</vt:lpstr>
      <vt:lpstr>Normas DIN 2403</vt:lpstr>
      <vt:lpstr>DIN ISO 7183</vt:lpstr>
      <vt:lpstr>Norma ISO 1217</vt:lpstr>
      <vt:lpstr>Norma ISO 8573-1</vt:lpstr>
      <vt:lpstr>Norma ISO 3320</vt:lpstr>
      <vt:lpstr>Norma ISO 34489</vt:lpstr>
      <vt:lpstr>Norma ISO 2909</vt:lpstr>
      <vt:lpstr>Normas DIN 51524 y DIN 51525</vt:lpstr>
      <vt:lpstr>Código IP</vt:lpstr>
      <vt:lpstr>Código IP</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NEUMÁTICA GENERALES NORMAS</dc:title>
  <dc:creator>Gonza</dc:creator>
  <cp:lastModifiedBy>Betty</cp:lastModifiedBy>
  <cp:revision>24</cp:revision>
  <dcterms:created xsi:type="dcterms:W3CDTF">2013-04-07T21:02:46Z</dcterms:created>
  <dcterms:modified xsi:type="dcterms:W3CDTF">2013-04-09T03:47:43Z</dcterms:modified>
</cp:coreProperties>
</file>